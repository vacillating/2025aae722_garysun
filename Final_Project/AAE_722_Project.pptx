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5759450" cy="3240088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406" autoAdjust="0"/>
    <p:restoredTop sz="94660"/>
  </p:normalViewPr>
  <p:slideViewPr>
    <p:cSldViewPr snapToGrid="0">
      <p:cViewPr varScale="1">
        <p:scale>
          <a:sx n="249" d="100"/>
          <a:sy n="249" d="100"/>
        </p:scale>
        <p:origin x="336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13" Type="http://schemas.openxmlformats.org/officeDocument/2006/relationships/slide" Target="slide1.xml"/><Relationship Id="rId3" Type="http://schemas.openxmlformats.org/officeDocument/2006/relationships/image" Target="../media/image3.png"/><Relationship Id="rId7" Type="http://schemas.openxmlformats.org/officeDocument/2006/relationships/slide" Target="slide3.xml"/><Relationship Id="rId12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slide" Target="slide14.xml"/><Relationship Id="rId5" Type="http://schemas.openxmlformats.org/officeDocument/2006/relationships/image" Target="../media/image5.png"/><Relationship Id="rId10" Type="http://schemas.openxmlformats.org/officeDocument/2006/relationships/slide" Target="slide10.xml"/><Relationship Id="rId4" Type="http://schemas.openxmlformats.org/officeDocument/2006/relationships/image" Target="../media/image4.png"/><Relationship Id="rId9" Type="http://schemas.openxmlformats.org/officeDocument/2006/relationships/slide" Target="slide9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slide" Target="slide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slide" Target="slid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slide" Target="slide1.xml"/><Relationship Id="rId4" Type="http://schemas.openxmlformats.org/officeDocument/2006/relationships/image" Target="../media/image21.png"/><Relationship Id="rId9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jpe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slide" Target="slide1.xml"/><Relationship Id="rId4" Type="http://schemas.openxmlformats.org/officeDocument/2006/relationships/image" Target="../media/image28.png"/><Relationship Id="rId9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jpeg"/><Relationship Id="rId11" Type="http://schemas.openxmlformats.org/officeDocument/2006/relationships/slide" Target="slide1.xml"/><Relationship Id="rId5" Type="http://schemas.openxmlformats.org/officeDocument/2006/relationships/image" Target="../media/image36.png"/><Relationship Id="rId10" Type="http://schemas.openxmlformats.org/officeDocument/2006/relationships/image" Target="../media/image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6" Type="http://schemas.openxmlformats.org/officeDocument/2006/relationships/slide" Target="slide1.xml"/><Relationship Id="rId5" Type="http://schemas.openxmlformats.org/officeDocument/2006/relationships/image" Target="../media/image1.png"/><Relationship Id="rId4" Type="http://schemas.openxmlformats.org/officeDocument/2006/relationships/image" Target="../media/image4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slide" Target="slide1.xml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Relationship Id="rId9" Type="http://schemas.openxmlformats.org/officeDocument/2006/relationships/slide" Target="slide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54.png"/><Relationship Id="rId7" Type="http://schemas.openxmlformats.org/officeDocument/2006/relationships/image" Target="../media/image1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10" Type="http://schemas.openxmlformats.org/officeDocument/2006/relationships/slide" Target="slide1.xml"/><Relationship Id="rId4" Type="http://schemas.openxmlformats.org/officeDocument/2006/relationships/image" Target="../media/image66.png"/><Relationship Id="rId9" Type="http://schemas.openxmlformats.org/officeDocument/2006/relationships/image" Target="../media/image7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75729" y="507974"/>
          <a:ext cx="5659120" cy="718820"/>
        </p:xfrm>
        <a:graphic>
          <a:graphicData uri="http://schemas.openxmlformats.org/drawingml/2006/table">
            <a:tbl>
              <a:tblPr/>
              <a:tblGrid>
                <a:gridCol w="5659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1882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textbox 4"/>
          <p:cNvSpPr/>
          <p:nvPr/>
        </p:nvSpPr>
        <p:spPr>
          <a:xfrm>
            <a:off x="75729" y="507974"/>
            <a:ext cx="5608954" cy="671830"/>
          </a:xfrm>
          <a:prstGeom prst="rect">
            <a:avLst/>
          </a:prstGeom>
          <a:solidFill>
            <a:srgbClr val="C5050C">
              <a:alpha val="9647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829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848360" algn="l" rtl="0" eaLnBrk="0">
              <a:lnSpc>
                <a:spcPct val="86000"/>
              </a:lnSpc>
              <a:tabLst/>
            </a:pPr>
            <a:r>
              <a:rPr sz="1400" kern="0" spc="-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Forecasting</a:t>
            </a:r>
            <a:r>
              <a:rPr sz="1400" kern="0" spc="1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Crypto</a:t>
            </a:r>
            <a:r>
              <a:rPr sz="1400" kern="0" spc="1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Volatility</a:t>
            </a:r>
            <a:r>
              <a:rPr sz="1400" kern="0" spc="1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via</a:t>
            </a:r>
            <a:r>
              <a:rPr sz="1400" kern="0" spc="1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Semantic</a:t>
            </a:r>
            <a:r>
              <a:rPr sz="1400" kern="0" spc="1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Sentiment</a:t>
            </a:r>
            <a:endParaRPr sz="14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445260" algn="l" rtl="0" eaLnBrk="0">
              <a:lnSpc>
                <a:spcPct val="93000"/>
              </a:lnSpc>
              <a:spcBef>
                <a:spcPts val="3"/>
              </a:spcBef>
              <a:tabLst/>
            </a:pPr>
            <a:r>
              <a:rPr sz="900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900" kern="0" spc="1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Transformer-Ba</a:t>
            </a:r>
            <a:r>
              <a:rPr sz="9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sed</a:t>
            </a:r>
            <a:r>
              <a:rPr sz="900" kern="0" spc="1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Approach</a:t>
            </a:r>
            <a:r>
              <a:rPr sz="900" kern="0" spc="1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(FinBERT</a:t>
            </a:r>
            <a:r>
              <a:rPr sz="900" kern="0" spc="1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&amp;</a:t>
            </a:r>
            <a:r>
              <a:rPr sz="900" kern="0" spc="1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PCA)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6" name="textbox 6"/>
          <p:cNvSpPr/>
          <p:nvPr/>
        </p:nvSpPr>
        <p:spPr>
          <a:xfrm>
            <a:off x="1856624" y="1411393"/>
            <a:ext cx="2053589" cy="11372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10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788034" algn="l" rtl="0" eaLnBrk="0">
              <a:lnSpc>
                <a:spcPct val="93000"/>
              </a:lnSpc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Gary</a:t>
            </a:r>
            <a:r>
              <a:rPr sz="900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Sun</a:t>
            </a:r>
            <a:endParaRPr sz="900" dirty="0">
              <a:latin typeface="Arial"/>
              <a:ea typeface="Arial"/>
              <a:cs typeface="Arial"/>
            </a:endParaRPr>
          </a:p>
          <a:p>
            <a:pPr marL="328929" algn="l" rtl="0" eaLnBrk="0">
              <a:lnSpc>
                <a:spcPct val="86000"/>
              </a:lnSpc>
              <a:spcBef>
                <a:spcPts val="250"/>
              </a:spcBef>
              <a:tabLst/>
            </a:pP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AAE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722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Final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Proj</a:t>
            </a: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ect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86715" algn="l" rtl="0" eaLnBrk="0">
              <a:lnSpc>
                <a:spcPts val="736"/>
              </a:lnSpc>
              <a:spcBef>
                <a:spcPts val="183"/>
              </a:spcBef>
              <a:tabLst/>
            </a:pPr>
            <a:r>
              <a:rPr sz="600" b="1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Universit</a:t>
            </a:r>
            <a:r>
              <a:rPr sz="600" b="1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y</a:t>
            </a:r>
            <a:r>
              <a:rPr sz="600" b="1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b="1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600" b="1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b="1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Wisconsin-Madison</a:t>
            </a:r>
            <a:endParaRPr sz="600" dirty="0">
              <a:latin typeface="Arial"/>
              <a:ea typeface="Arial"/>
              <a:cs typeface="Arial"/>
            </a:endParaRPr>
          </a:p>
          <a:p>
            <a:pPr marL="12700" indent="48259" algn="l" rtl="0" eaLnBrk="0">
              <a:lnSpc>
                <a:spcPct val="106000"/>
              </a:lnSpc>
              <a:spcBef>
                <a:spcPts val="68"/>
              </a:spcBef>
              <a:tabLst/>
            </a:pPr>
            <a:r>
              <a:rPr sz="6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Department</a:t>
            </a:r>
            <a:r>
              <a:rPr sz="6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of Ag</a:t>
            </a: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ricultural</a:t>
            </a:r>
            <a:r>
              <a:rPr sz="6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&amp;</a:t>
            </a:r>
            <a:r>
              <a:rPr sz="6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Applied</a:t>
            </a:r>
            <a:r>
              <a:rPr sz="6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Economics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(Cross-Analysis</a:t>
            </a:r>
            <a:r>
              <a:rPr sz="6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with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Computer</a:t>
            </a:r>
            <a:r>
              <a:rPr sz="6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Science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Techniq</a:t>
            </a:r>
            <a:r>
              <a:rPr sz="6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ues)</a:t>
            </a:r>
            <a:endParaRPr sz="6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553084" algn="l" rtl="0" eaLnBrk="0">
              <a:lnSpc>
                <a:spcPct val="93000"/>
              </a:lnSpc>
              <a:spcBef>
                <a:spcPts val="2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December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9,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5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grpSp>
        <p:nvGrpSpPr>
          <p:cNvPr id="3" name="group 2"/>
          <p:cNvGrpSpPr/>
          <p:nvPr/>
        </p:nvGrpSpPr>
        <p:grpSpPr>
          <a:xfrm rot="21600000">
            <a:off x="0" y="3148621"/>
            <a:ext cx="5759919" cy="91376"/>
            <a:chOff x="0" y="0"/>
            <a:chExt cx="5759919" cy="91376"/>
          </a:xfrm>
        </p:grpSpPr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5759919" cy="91376"/>
            </a:xfrm>
            <a:prstGeom prst="rect">
              <a:avLst/>
            </a:prstGeom>
          </p:spPr>
        </p:pic>
        <p:sp>
          <p:nvSpPr>
            <p:cNvPr id="10" name="textbox 10"/>
            <p:cNvSpPr/>
            <p:nvPr/>
          </p:nvSpPr>
          <p:spPr>
            <a:xfrm>
              <a:off x="-12700" y="-12699"/>
              <a:ext cx="5785484" cy="11683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700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789940" algn="l" rtl="0" eaLnBrk="0">
                <a:lnSpc>
                  <a:spcPts val="641"/>
                </a:lnSpc>
                <a:tabLst/>
              </a:pPr>
              <a:r>
                <a:rPr sz="400" kern="0" spc="50" dirty="0">
                  <a:solidFill>
                    <a:srgbClr val="F2F2F2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(UW-Madison)</a:t>
              </a:r>
              <a:r>
                <a:rPr sz="400" kern="0" spc="0" dirty="0">
                  <a:solidFill>
                    <a:srgbClr val="F2F2F2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                                                                          </a:t>
              </a:r>
              <a:r>
                <a:rPr sz="400" kern="0" spc="5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3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Semantic</a:t>
              </a:r>
              <a:r>
                <a:rPr sz="400" kern="0" spc="14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3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 </a:t>
              </a:r>
              <a:r>
                <a:rPr sz="400" kern="0" spc="5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3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Sentimen</a:t>
              </a:r>
              <a:r>
                <a:rPr sz="400" kern="0" spc="4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3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t</a:t>
              </a:r>
              <a:r>
                <a:rPr sz="400" kern="0" spc="9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3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 </a:t>
              </a:r>
              <a:r>
                <a:rPr sz="400" kern="0" spc="4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3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&amp;</a:t>
              </a:r>
              <a:r>
                <a:rPr sz="400" kern="0" spc="10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3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 </a:t>
              </a:r>
              <a:r>
                <a:rPr sz="400" kern="0" spc="4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3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Crypto</a:t>
              </a:r>
              <a:r>
                <a:rPr sz="400" kern="0" spc="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                                                                   </a:t>
              </a:r>
              <a:r>
                <a:rPr sz="400" kern="0" spc="4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December</a:t>
              </a:r>
              <a:r>
                <a:rPr sz="400" kern="0" spc="14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400" kern="0" spc="4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9,</a:t>
              </a:r>
              <a:r>
                <a:rPr sz="400" kern="0" spc="9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400" kern="0" spc="4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2025</a:t>
              </a:r>
              <a:r>
                <a:rPr sz="400" kern="0" spc="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                            </a:t>
              </a:r>
              <a:r>
                <a:rPr sz="400" kern="0" spc="4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 / 15</a:t>
              </a:r>
              <a:endParaRPr sz="400" dirty="0">
                <a:latin typeface="Arial"/>
                <a:ea typeface="Arial"/>
                <a:cs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1534" y="2001799"/>
            <a:ext cx="146202" cy="146202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1534" y="1222756"/>
            <a:ext cx="146202" cy="146202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1534" y="833234"/>
            <a:ext cx="146202" cy="146202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1534" y="1612277"/>
            <a:ext cx="146202" cy="146202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81534" y="2391321"/>
            <a:ext cx="146202" cy="146202"/>
          </a:xfrm>
          <a:prstGeom prst="rect">
            <a:avLst/>
          </a:prstGeom>
        </p:spPr>
      </p:pic>
      <p:sp>
        <p:nvSpPr>
          <p:cNvPr id="22" name="textbox 22"/>
          <p:cNvSpPr/>
          <p:nvPr/>
        </p:nvSpPr>
        <p:spPr>
          <a:xfrm>
            <a:off x="121071" y="824750"/>
            <a:ext cx="1852295" cy="17049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75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7779" algn="l" rtl="0" eaLnBrk="0">
              <a:lnSpc>
                <a:spcPct val="88000"/>
              </a:lnSpc>
              <a:tabLst/>
            </a:pPr>
            <a:r>
              <a:rPr sz="1000" kern="0" spc="20" baseline="5208" dirty="0">
                <a:solidFill>
                  <a:srgbClr val="F9E6E7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600" kern="0" spc="20" dirty="0">
                <a:solidFill>
                  <a:srgbClr val="F9E6E7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hlinkClick r:id="rId7" action="ppaction://hlinksldjump">
                  <a:extLst>
                    <a:ext uri="{DAF060AB-1E55-43B9-8AAB-6FB025537F2F}">
                      <wpsdc:hlinkUnderline xmlns:wpsdc="http://www.wps.cn/officeDocument/2017/drawingmlCustomData" xmlns="" val="0"/>
                    </a:ext>
                  </a:extLst>
                </a:hlinkClick>
              </a:rPr>
              <a:t>Motivation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hlinkClick r:id="rId7" action="ppaction://hlinksldjump">
                  <a:extLst>
                    <a:ext uri="{DAF060AB-1E55-43B9-8AAB-6FB025537F2F}">
                      <wpsdc:hlinkUnderline xmlns:wpsdc="http://www.wps.cn/officeDocument/2017/drawingmlCustomData" xmlns="" val="0"/>
                    </a:ext>
                  </a:extLst>
                </a:hlinkClick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hlinkClick r:id="rId7" action="ppaction://hlinksldjump">
                  <a:extLst>
                    <a:ext uri="{DAF060AB-1E55-43B9-8AAB-6FB025537F2F}">
                      <wpsdc:hlinkUnderline xmlns:wpsdc="http://www.wps.cn/officeDocument/2017/drawingmlCustomData" xmlns="" val="0"/>
                    </a:ext>
                  </a:extLst>
                </a:hlinkClick>
              </a:rPr>
              <a:t>&amp;</a:t>
            </a:r>
            <a:r>
              <a:rPr sz="900" kern="0" spc="1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hlinkClick r:id="rId7" action="ppaction://hlinksldjump">
                  <a:extLst>
                    <a:ext uri="{DAF060AB-1E55-43B9-8AAB-6FB025537F2F}">
                      <wpsdc:hlinkUnderline xmlns:wpsdc="http://www.wps.cn/officeDocument/2017/drawingmlCustomData" xmlns="" val="0"/>
                    </a:ext>
                  </a:extLst>
                </a:hlinkClick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hlinkClick r:id="rId7" action="ppaction://hlinksldjump">
                  <a:extLst>
                    <a:ext uri="{DAF060AB-1E55-43B9-8AAB-6FB025537F2F}">
                      <wpsdc:hlinkUnderline xmlns:wpsdc="http://www.wps.cn/officeDocument/2017/drawingmlCustomData" xmlns="" val="0"/>
                    </a:ext>
                  </a:extLst>
                </a:hlinkClick>
              </a:rPr>
              <a:t>Literature</a:t>
            </a:r>
            <a:r>
              <a:rPr sz="900" kern="0" spc="1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hlinkClick r:id="rId7" action="ppaction://hlinksldjump">
                  <a:extLst>
                    <a:ext uri="{DAF060AB-1E55-43B9-8AAB-6FB025537F2F}">
                      <wpsdc:hlinkUnderline xmlns:wpsdc="http://www.wps.cn/officeDocument/2017/drawingmlCustomData" xmlns="" val="0"/>
                    </a:ext>
                  </a:extLst>
                </a:hlinkClick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hlinkClick r:id="rId7" action="ppaction://hlinksldjump">
                  <a:extLst>
                    <a:ext uri="{DAF060AB-1E55-43B9-8AAB-6FB025537F2F}">
                      <wpsdc:hlinkUnderline xmlns:wpsdc="http://www.wps.cn/officeDocument/2017/drawingmlCustomData" xmlns="" val="0"/>
                    </a:ext>
                  </a:extLst>
                </a:hlinkClick>
              </a:rPr>
              <a:t>Review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5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ts val="1145"/>
              </a:lnSpc>
              <a:spcBef>
                <a:spcPts val="279"/>
              </a:spcBef>
              <a:tabLst/>
            </a:pPr>
            <a:r>
              <a:rPr sz="1000" kern="0" spc="50" baseline="17323" dirty="0">
                <a:solidFill>
                  <a:srgbClr val="F9E6E7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600" kern="0" spc="50" dirty="0">
                <a:solidFill>
                  <a:srgbClr val="F9E6E7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hlinkClick r:id="rId8" action="ppaction://hlinksldjump">
                  <a:extLst>
                    <a:ext uri="{DAF060AB-1E55-43B9-8AAB-6FB025537F2F}">
                      <wpsdc:hlinkUnderline xmlns:wpsdc="http://www.wps.cn/officeDocument/2017/drawingmlCustomData" xmlns="" val="0"/>
                    </a:ext>
                  </a:extLst>
                </a:hlinkClick>
              </a:rPr>
              <a:t>Background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ts val="1145"/>
              </a:lnSpc>
              <a:spcBef>
                <a:spcPts val="278"/>
              </a:spcBef>
              <a:tabLst/>
            </a:pPr>
            <a:r>
              <a:rPr sz="1000" kern="0" spc="20" baseline="17323" dirty="0">
                <a:solidFill>
                  <a:srgbClr val="F9E6E7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600" kern="0" spc="20" dirty="0">
                <a:solidFill>
                  <a:srgbClr val="F9E6E7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hlinkClick r:id="rId9" action="ppaction://hlinksldjump">
                  <a:extLst>
                    <a:ext uri="{DAF060AB-1E55-43B9-8AAB-6FB025537F2F}">
                      <wpsdc:hlinkUnderline xmlns:wpsdc="http://www.wps.cn/officeDocument/2017/drawingmlCustomData" xmlns="" val="0"/>
                    </a:ext>
                  </a:extLst>
                </a:hlinkClick>
              </a:rPr>
              <a:t>Methodology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spcBef>
                <a:spcPts val="279"/>
              </a:spcBef>
              <a:tabLst/>
            </a:pPr>
            <a:r>
              <a:rPr sz="1000" kern="0" spc="30" baseline="5208" dirty="0">
                <a:solidFill>
                  <a:srgbClr val="F9E6E7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r>
              <a:rPr sz="600" kern="0" spc="10" dirty="0">
                <a:solidFill>
                  <a:srgbClr val="F9E6E7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hlinkClick r:id="rId10" action="ppaction://hlinksldjump">
                  <a:extLst>
                    <a:ext uri="{DAF060AB-1E55-43B9-8AAB-6FB025537F2F}">
                      <wpsdc:hlinkUnderline xmlns:wpsdc="http://www.wps.cn/officeDocument/2017/drawingmlCustomData" xmlns="" val="0"/>
                    </a:ext>
                  </a:extLst>
                </a:hlinkClick>
              </a:rPr>
              <a:t>Results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5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ct val="88000"/>
              </a:lnSpc>
              <a:tabLst/>
            </a:pPr>
            <a:r>
              <a:rPr sz="1000" kern="0" spc="20" baseline="5208" dirty="0">
                <a:solidFill>
                  <a:srgbClr val="F9E6E7">
                    <a:alpha val="100000"/>
                  </a:srgbClr>
                </a:solidFill>
                <a:latin typeface="Arial"/>
                <a:ea typeface="Arial"/>
                <a:cs typeface="Arial"/>
              </a:rPr>
              <a:t>5</a:t>
            </a:r>
            <a:r>
              <a:rPr sz="600" kern="0" spc="20" dirty="0">
                <a:solidFill>
                  <a:srgbClr val="F9E6E7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hlinkClick r:id="rId11" action="ppaction://hlinksldjump">
                  <a:extLst>
                    <a:ext uri="{DAF060AB-1E55-43B9-8AAB-6FB025537F2F}">
                      <wpsdc:hlinkUnderline xmlns:wpsdc="http://www.wps.cn/officeDocument/2017/drawingmlCustomData" xmlns="" val="0"/>
                    </a:ext>
                  </a:extLst>
                </a:hlinkClick>
              </a:rPr>
              <a:t>Future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hlinkClick r:id="rId11" action="ppaction://hlinksldjump">
                  <a:extLst>
                    <a:ext uri="{DAF060AB-1E55-43B9-8AAB-6FB025537F2F}">
                      <wpsdc:hlinkUnderline xmlns:wpsdc="http://www.wps.cn/officeDocument/2017/drawingmlCustomData" xmlns="" val="0"/>
                    </a:ext>
                  </a:extLst>
                </a:hlinkClick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hlinkClick r:id="rId11" action="ppaction://hlinksldjump">
                  <a:extLst>
                    <a:ext uri="{DAF060AB-1E55-43B9-8AAB-6FB025537F2F}">
                      <wpsdc:hlinkUnderline xmlns:wpsdc="http://www.wps.cn/officeDocument/2017/drawingmlCustomData" xmlns="" val="0"/>
                    </a:ext>
                  </a:extLst>
                </a:hlinkClick>
              </a:rPr>
              <a:t>Work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24" name="textbox 24"/>
          <p:cNvSpPr/>
          <p:nvPr/>
        </p:nvSpPr>
        <p:spPr>
          <a:xfrm>
            <a:off x="0" y="0"/>
            <a:ext cx="5760084" cy="350520"/>
          </a:xfrm>
          <a:prstGeom prst="rect">
            <a:avLst/>
          </a:prstGeom>
          <a:solidFill>
            <a:srgbClr val="C5050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2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56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17475" algn="l" rtl="0" eaLnBrk="0">
              <a:lnSpc>
                <a:spcPct val="74000"/>
              </a:lnSpc>
              <a:tabLst/>
            </a:pP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Outline</a:t>
            </a:r>
            <a:endParaRPr sz="1400" dirty="0">
              <a:latin typeface="Arial"/>
              <a:ea typeface="Arial"/>
              <a:cs typeface="Arial"/>
            </a:endParaRPr>
          </a:p>
        </p:txBody>
      </p:sp>
      <p:grpSp>
        <p:nvGrpSpPr>
          <p:cNvPr id="4" name="group 4"/>
          <p:cNvGrpSpPr/>
          <p:nvPr/>
        </p:nvGrpSpPr>
        <p:grpSpPr>
          <a:xfrm rot="21600000">
            <a:off x="0" y="3148622"/>
            <a:ext cx="5759919" cy="91376"/>
            <a:chOff x="0" y="0"/>
            <a:chExt cx="5759919" cy="91376"/>
          </a:xfrm>
        </p:grpSpPr>
        <p:pic>
          <p:nvPicPr>
            <p:cNvPr id="26" name="picture 26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 rot="21600000">
              <a:off x="0" y="0"/>
              <a:ext cx="5759919" cy="91376"/>
            </a:xfrm>
            <a:prstGeom prst="rect">
              <a:avLst/>
            </a:prstGeom>
          </p:spPr>
        </p:pic>
        <p:sp>
          <p:nvSpPr>
            <p:cNvPr id="28" name="textbox 28"/>
            <p:cNvSpPr/>
            <p:nvPr/>
          </p:nvSpPr>
          <p:spPr>
            <a:xfrm>
              <a:off x="-12700" y="-12699"/>
              <a:ext cx="5785484" cy="11683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700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789940" algn="l" rtl="0" eaLnBrk="0">
                <a:lnSpc>
                  <a:spcPts val="641"/>
                </a:lnSpc>
                <a:tabLst/>
              </a:pPr>
              <a:r>
                <a:rPr sz="400" kern="0" spc="50" dirty="0">
                  <a:solidFill>
                    <a:srgbClr val="F2F2F2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(UW-Madison)</a:t>
              </a:r>
              <a:r>
                <a:rPr sz="400" kern="0" spc="0" dirty="0">
                  <a:solidFill>
                    <a:srgbClr val="F2F2F2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                                                                          </a:t>
              </a:r>
              <a:r>
                <a:rPr sz="400" kern="0" spc="5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13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Semantic</a:t>
              </a:r>
              <a:r>
                <a:rPr sz="400" kern="0" spc="14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13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 </a:t>
              </a:r>
              <a:r>
                <a:rPr sz="400" kern="0" spc="5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13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Sentiment</a:t>
              </a:r>
              <a:r>
                <a:rPr sz="400" kern="0" spc="8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13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 </a:t>
              </a:r>
              <a:r>
                <a:rPr sz="400" kern="0" spc="5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13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&amp;</a:t>
              </a:r>
              <a:r>
                <a:rPr sz="400" kern="0" spc="10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13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 </a:t>
              </a:r>
              <a:r>
                <a:rPr sz="400" kern="0" spc="5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13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C</a:t>
              </a:r>
              <a:r>
                <a:rPr sz="400" kern="0" spc="4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13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rypto</a:t>
              </a:r>
              <a:r>
                <a:rPr sz="400" kern="0" spc="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                                                                   </a:t>
              </a:r>
              <a:r>
                <a:rPr sz="400" kern="0" spc="4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December</a:t>
              </a:r>
              <a:r>
                <a:rPr sz="400" kern="0" spc="15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400" kern="0" spc="4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9,</a:t>
              </a:r>
              <a:r>
                <a:rPr sz="400" kern="0" spc="8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400" kern="0" spc="4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2025</a:t>
              </a:r>
              <a:r>
                <a:rPr sz="400" kern="0" spc="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                            </a:t>
              </a:r>
              <a:r>
                <a:rPr sz="400" kern="0" spc="4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 / 15</a:t>
              </a:r>
              <a:endParaRPr sz="400" dirty="0">
                <a:latin typeface="Arial"/>
                <a:ea typeface="Arial"/>
                <a:cs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30"/>
          <p:cNvSpPr/>
          <p:nvPr/>
        </p:nvSpPr>
        <p:spPr>
          <a:xfrm>
            <a:off x="76714" y="578282"/>
            <a:ext cx="3227704" cy="13360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54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900" b="1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900" b="1" kern="0" spc="2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Unique</a:t>
            </a:r>
            <a:r>
              <a:rPr sz="900" b="1" kern="0" spc="2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Natur</a:t>
            </a:r>
            <a:r>
              <a:rPr sz="900" b="1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b="1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900" b="1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Crypto</a:t>
            </a:r>
            <a:r>
              <a:rPr sz="900" b="1" kern="0" spc="2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Markets:</a:t>
            </a:r>
            <a:endParaRPr sz="900" dirty="0">
              <a:latin typeface="Arial"/>
              <a:ea typeface="Arial"/>
              <a:cs typeface="Arial"/>
            </a:endParaRPr>
          </a:p>
          <a:p>
            <a:pPr marL="265429" indent="-68580" algn="l" rtl="0" eaLnBrk="0">
              <a:lnSpc>
                <a:spcPct val="104000"/>
              </a:lnSpc>
              <a:spcBef>
                <a:spcPts val="470"/>
              </a:spcBef>
              <a:tabLst>
                <a:tab pos="272415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	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Unlike</a:t>
            </a:r>
            <a:r>
              <a:rPr sz="9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equities,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crypto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lacks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traditional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fundamental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anchors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(e.g.,</a:t>
            </a:r>
            <a:r>
              <a:rPr sz="900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P/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ratio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cash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flow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)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endParaRPr sz="900" dirty="0">
              <a:latin typeface="Arial"/>
              <a:ea typeface="Arial"/>
              <a:cs typeface="Arial"/>
            </a:endParaRPr>
          </a:p>
          <a:p>
            <a:pPr marL="265429" indent="-68580" algn="l" rtl="0" eaLnBrk="0">
              <a:lnSpc>
                <a:spcPct val="105000"/>
              </a:lnSpc>
              <a:spcBef>
                <a:spcPts val="422"/>
              </a:spcBef>
              <a:tabLst/>
            </a:pP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Shiller</a:t>
            </a:r>
            <a:r>
              <a:rPr sz="900" b="1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’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b="1" kern="0" spc="2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Narrative</a:t>
            </a:r>
            <a:r>
              <a:rPr sz="900" b="1" kern="0" spc="2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Economics</a:t>
            </a:r>
            <a:r>
              <a:rPr sz="900" b="1" kern="0" spc="2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(2019): 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Market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moves are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driven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by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”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viral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stories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”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collective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psychology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endParaRPr sz="900" dirty="0">
              <a:latin typeface="Arial"/>
              <a:ea typeface="Arial"/>
              <a:cs typeface="Arial"/>
            </a:endParaRPr>
          </a:p>
          <a:p>
            <a:pPr marL="196850" algn="l" rtl="0" eaLnBrk="0">
              <a:lnSpc>
                <a:spcPct val="95000"/>
              </a:lnSpc>
              <a:spcBef>
                <a:spcPts val="442"/>
              </a:spcBef>
              <a:tabLst>
                <a:tab pos="265429" algn="l"/>
              </a:tabLst>
            </a:pP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900" b="1" kern="0" spc="2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Inefficiency:</a:t>
            </a:r>
            <a:r>
              <a:rPr sz="900" b="1" kern="0" spc="2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Traditional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econometric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model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endParaRPr sz="900" dirty="0">
              <a:latin typeface="Arial"/>
              <a:ea typeface="Arial"/>
              <a:cs typeface="Arial"/>
            </a:endParaRPr>
          </a:p>
          <a:p>
            <a:pPr marL="270509" algn="l" rtl="0" eaLnBrk="0">
              <a:lnSpc>
                <a:spcPct val="104000"/>
              </a:lnSpc>
              <a:spcBef>
                <a:spcPts val="171"/>
              </a:spcBef>
              <a:tabLst/>
            </a:pP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(ARIMA/GARCH)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rely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on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past price</a:t>
            </a:r>
            <a:r>
              <a:rPr sz="900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vol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ume,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often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missing</a:t>
            </a: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unde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rlying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semantic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driver.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14528" y="1500566"/>
            <a:ext cx="59601" cy="59601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14528" y="1158936"/>
            <a:ext cx="59601" cy="59601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14528" y="817319"/>
            <a:ext cx="59601" cy="59601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527970" y="1083023"/>
            <a:ext cx="2092512" cy="1046256"/>
          </a:xfrm>
          <a:prstGeom prst="rect">
            <a:avLst/>
          </a:prstGeom>
        </p:spPr>
      </p:pic>
      <p:sp>
        <p:nvSpPr>
          <p:cNvPr id="40" name="textbox 40"/>
          <p:cNvSpPr/>
          <p:nvPr/>
        </p:nvSpPr>
        <p:spPr>
          <a:xfrm>
            <a:off x="0" y="0"/>
            <a:ext cx="5760084" cy="350520"/>
          </a:xfrm>
          <a:prstGeom prst="rect">
            <a:avLst/>
          </a:prstGeom>
          <a:solidFill>
            <a:srgbClr val="C5050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23825" algn="l" rtl="0" eaLnBrk="0">
              <a:lnSpc>
                <a:spcPct val="86000"/>
              </a:lnSpc>
              <a:spcBef>
                <a:spcPts val="6"/>
              </a:spcBef>
              <a:tabLst/>
            </a:pPr>
            <a:r>
              <a:rPr sz="1400" kern="0" spc="-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1.1</a:t>
            </a:r>
            <a:r>
              <a:rPr sz="1400" kern="0" spc="1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1400" kern="0" spc="2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Economic</a:t>
            </a:r>
            <a:r>
              <a:rPr sz="1400" kern="0" spc="1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Context:  Narrat</a:t>
            </a:r>
            <a:r>
              <a:rPr sz="1400" kern="0" spc="-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ive</a:t>
            </a:r>
            <a:r>
              <a:rPr sz="1400" kern="0" spc="2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Economics</a:t>
            </a:r>
            <a:endParaRPr sz="1400" dirty="0">
              <a:latin typeface="Arial"/>
              <a:ea typeface="Arial"/>
              <a:cs typeface="Arial"/>
            </a:endParaRPr>
          </a:p>
        </p:txBody>
      </p:sp>
      <p:pic>
        <p:nvPicPr>
          <p:cNvPr id="42" name="picture 4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84352" y="2267118"/>
            <a:ext cx="3405846" cy="557896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33552" y="2210180"/>
            <a:ext cx="3407994" cy="564033"/>
          </a:xfrm>
          <a:prstGeom prst="rect">
            <a:avLst/>
          </a:prstGeom>
        </p:spPr>
      </p:pic>
      <p:sp>
        <p:nvSpPr>
          <p:cNvPr id="46" name="textbox 46"/>
          <p:cNvSpPr/>
          <p:nvPr/>
        </p:nvSpPr>
        <p:spPr>
          <a:xfrm>
            <a:off x="76207" y="2225928"/>
            <a:ext cx="3298825" cy="527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6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1590" algn="l" rtl="0" eaLnBrk="0">
              <a:lnSpc>
                <a:spcPct val="91000"/>
              </a:lnSpc>
              <a:tabLst/>
            </a:pPr>
            <a:r>
              <a:rPr sz="1100" kern="0" spc="-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Research</a:t>
            </a:r>
            <a:r>
              <a:rPr sz="1100" kern="0" spc="1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-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Objective</a:t>
            </a:r>
            <a:endParaRPr sz="11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7145" indent="-4444" algn="l" rtl="0" eaLnBrk="0">
              <a:lnSpc>
                <a:spcPct val="103000"/>
              </a:lnSpc>
              <a:tabLst/>
            </a:pP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To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quantify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these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”viral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storie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s”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using</a:t>
            </a:r>
            <a:r>
              <a:rPr sz="900" kern="0" spc="1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Deep</a:t>
            </a:r>
            <a:r>
              <a:rPr sz="900" kern="0" spc="1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Learning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test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if they</a:t>
            </a:r>
            <a:r>
              <a:rPr sz="9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mathematicall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y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lead</a:t>
            </a:r>
            <a:r>
              <a:rPr sz="900" b="1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price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volatility.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grpSp>
        <p:nvGrpSpPr>
          <p:cNvPr id="6" name="group 6"/>
          <p:cNvGrpSpPr/>
          <p:nvPr/>
        </p:nvGrpSpPr>
        <p:grpSpPr>
          <a:xfrm rot="21600000">
            <a:off x="0" y="3148620"/>
            <a:ext cx="5759918" cy="91376"/>
            <a:chOff x="0" y="0"/>
            <a:chExt cx="5759918" cy="91376"/>
          </a:xfrm>
        </p:grpSpPr>
        <p:pic>
          <p:nvPicPr>
            <p:cNvPr id="48" name="picture 48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0" y="0"/>
              <a:ext cx="5759918" cy="91376"/>
            </a:xfrm>
            <a:prstGeom prst="rect">
              <a:avLst/>
            </a:prstGeom>
          </p:spPr>
        </p:pic>
        <p:sp>
          <p:nvSpPr>
            <p:cNvPr id="50" name="textbox 50"/>
            <p:cNvSpPr/>
            <p:nvPr/>
          </p:nvSpPr>
          <p:spPr>
            <a:xfrm>
              <a:off x="-12700" y="-12699"/>
              <a:ext cx="5785484" cy="11683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700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789940" algn="l" rtl="0" eaLnBrk="0">
                <a:lnSpc>
                  <a:spcPts val="641"/>
                </a:lnSpc>
                <a:tabLst/>
              </a:pPr>
              <a:r>
                <a:rPr sz="400" kern="0" spc="50" dirty="0">
                  <a:solidFill>
                    <a:srgbClr val="F2F2F2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(UW-Madison)</a:t>
              </a:r>
              <a:r>
                <a:rPr sz="400" kern="0" spc="0" dirty="0">
                  <a:solidFill>
                    <a:srgbClr val="F2F2F2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                                                                          </a:t>
              </a:r>
              <a:r>
                <a:rPr sz="400" kern="0" spc="5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9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Semantic</a:t>
              </a:r>
              <a:r>
                <a:rPr sz="400" kern="0" spc="14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9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 </a:t>
              </a:r>
              <a:r>
                <a:rPr sz="400" kern="0" spc="5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9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Sentiment</a:t>
              </a:r>
              <a:r>
                <a:rPr sz="400" kern="0" spc="8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9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 </a:t>
              </a:r>
              <a:r>
                <a:rPr sz="400" kern="0" spc="5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9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&amp;</a:t>
              </a:r>
              <a:r>
                <a:rPr sz="400" kern="0" spc="10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9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 </a:t>
              </a:r>
              <a:r>
                <a:rPr sz="400" kern="0" spc="5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9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C</a:t>
              </a:r>
              <a:r>
                <a:rPr sz="400" kern="0" spc="4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9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rypto</a:t>
              </a:r>
              <a:r>
                <a:rPr sz="400" kern="0" spc="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                                                                   </a:t>
              </a:r>
              <a:r>
                <a:rPr sz="400" kern="0" spc="4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December</a:t>
              </a:r>
              <a:r>
                <a:rPr sz="400" kern="0" spc="15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400" kern="0" spc="4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9,</a:t>
              </a:r>
              <a:r>
                <a:rPr sz="400" kern="0" spc="8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400" kern="0" spc="4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2025</a:t>
              </a:r>
              <a:r>
                <a:rPr sz="400" kern="0" spc="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                            </a:t>
              </a:r>
              <a:r>
                <a:rPr sz="400" kern="0" spc="4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3 / 15</a:t>
              </a:r>
              <a:endParaRPr sz="4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52" name="textbox 52"/>
          <p:cNvSpPr/>
          <p:nvPr/>
        </p:nvSpPr>
        <p:spPr>
          <a:xfrm>
            <a:off x="3791812" y="2172376"/>
            <a:ext cx="1567180" cy="153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10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figure</a:t>
            </a:r>
            <a:r>
              <a:rPr sz="7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High-Entropy</a:t>
            </a:r>
            <a:r>
              <a:rPr sz="7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Social</a:t>
            </a:r>
            <a:r>
              <a:rPr sz="7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Signals</a:t>
            </a:r>
            <a:endParaRPr sz="7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box 54"/>
          <p:cNvSpPr/>
          <p:nvPr/>
        </p:nvSpPr>
        <p:spPr>
          <a:xfrm>
            <a:off x="126482" y="699774"/>
            <a:ext cx="5358129" cy="19704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10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My</a:t>
            </a:r>
            <a:r>
              <a:rPr sz="900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research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bridges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two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distinct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fields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: 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Financial</a:t>
            </a:r>
            <a:r>
              <a:rPr sz="900" b="1" kern="0" spc="2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Econometrics</a:t>
            </a:r>
            <a:r>
              <a:rPr sz="900" b="1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900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NLP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89229" algn="l" rtl="0" eaLnBrk="0">
              <a:lnSpc>
                <a:spcPct val="75000"/>
              </a:lnSpc>
              <a:spcBef>
                <a:spcPts val="277"/>
              </a:spcBef>
              <a:tabLst>
                <a:tab pos="257809" algn="l"/>
              </a:tabLst>
            </a:pP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b="1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Transformer</a:t>
            </a:r>
            <a:r>
              <a:rPr sz="900" b="1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Architec</a:t>
            </a:r>
            <a:r>
              <a:rPr sz="9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ture:</a:t>
            </a:r>
            <a:endParaRPr sz="900" dirty="0">
              <a:latin typeface="Arial"/>
              <a:ea typeface="Arial"/>
              <a:cs typeface="Arial"/>
            </a:endParaRPr>
          </a:p>
          <a:p>
            <a:pPr marL="509269" indent="-66675" algn="l" rtl="0" eaLnBrk="0">
              <a:lnSpc>
                <a:spcPct val="108000"/>
              </a:lnSpc>
              <a:spcBef>
                <a:spcPts val="457"/>
              </a:spcBef>
              <a:tabLst>
                <a:tab pos="524509" algn="l"/>
              </a:tabLst>
            </a:pP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	</a:t>
            </a: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Vaswani</a:t>
            </a:r>
            <a:r>
              <a:rPr sz="8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et</a:t>
            </a:r>
            <a:r>
              <a:rPr sz="8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al.  (20</a:t>
            </a: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17):  ”Attention</a:t>
            </a:r>
            <a:r>
              <a:rPr sz="800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Is</a:t>
            </a:r>
            <a:r>
              <a:rPr sz="8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All</a:t>
            </a:r>
            <a:r>
              <a:rPr sz="8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You</a:t>
            </a:r>
            <a:r>
              <a:rPr sz="800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Need”.  Introduced</a:t>
            </a:r>
            <a:r>
              <a:rPr sz="8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8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self-attention</a:t>
            </a:r>
            <a:r>
              <a:rPr sz="8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mechanism,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</a:t>
            </a: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enabling</a:t>
            </a:r>
            <a:r>
              <a:rPr sz="8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</a:t>
            </a:r>
            <a:r>
              <a:rPr sz="8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ntext-aware</a:t>
            </a:r>
            <a:r>
              <a:rPr sz="8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text</a:t>
            </a:r>
            <a:r>
              <a:rPr sz="8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processing.</a:t>
            </a:r>
            <a:endParaRPr sz="800" dirty="0">
              <a:latin typeface="Arial"/>
              <a:ea typeface="Arial"/>
              <a:cs typeface="Arial"/>
            </a:endParaRPr>
          </a:p>
          <a:p>
            <a:pPr marL="189229" algn="l" rtl="0" eaLnBrk="0">
              <a:lnSpc>
                <a:spcPct val="74000"/>
              </a:lnSpc>
              <a:spcBef>
                <a:spcPts val="1220"/>
              </a:spcBef>
              <a:tabLst>
                <a:tab pos="264159" algn="l"/>
              </a:tabLst>
            </a:pP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Financial</a:t>
            </a:r>
            <a:r>
              <a:rPr sz="900" b="1" kern="0" spc="2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LLMs:</a:t>
            </a:r>
            <a:endParaRPr sz="900" dirty="0">
              <a:latin typeface="Arial"/>
              <a:ea typeface="Arial"/>
              <a:cs typeface="Arial"/>
            </a:endParaRPr>
          </a:p>
          <a:p>
            <a:pPr marL="514984" indent="-72389" algn="l" rtl="0" eaLnBrk="0">
              <a:lnSpc>
                <a:spcPct val="108000"/>
              </a:lnSpc>
              <a:spcBef>
                <a:spcPts val="459"/>
              </a:spcBef>
              <a:tabLst>
                <a:tab pos="509269" algn="l"/>
              </a:tabLst>
            </a:pP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Araci</a:t>
            </a:r>
            <a:r>
              <a:rPr sz="8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(2019):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”FinBERT”.</a:t>
            </a:r>
            <a:r>
              <a:rPr sz="800" kern="0" spc="2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800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BERT</a:t>
            </a:r>
            <a:r>
              <a:rPr sz="8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model</a:t>
            </a:r>
            <a:r>
              <a:rPr sz="8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pre-trained</a:t>
            </a:r>
            <a:r>
              <a:rPr sz="8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specifical</a:t>
            </a: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ly</a:t>
            </a:r>
            <a:r>
              <a:rPr sz="8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on</a:t>
            </a:r>
            <a:r>
              <a:rPr sz="8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financial</a:t>
            </a:r>
            <a:r>
              <a:rPr sz="8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corpora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</a:t>
            </a: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(TRC2-fin</a:t>
            </a: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ancial),</a:t>
            </a:r>
            <a:r>
              <a:rPr sz="8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outperforming</a:t>
            </a:r>
            <a:r>
              <a:rPr sz="8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generic</a:t>
            </a:r>
            <a:r>
              <a:rPr sz="8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models</a:t>
            </a:r>
            <a:r>
              <a:rPr sz="8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</a:t>
            </a:r>
            <a:r>
              <a:rPr sz="8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sentiment</a:t>
            </a:r>
            <a:r>
              <a:rPr sz="8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classification.</a:t>
            </a:r>
            <a:endParaRPr sz="800" dirty="0">
              <a:latin typeface="Arial"/>
              <a:ea typeface="Arial"/>
              <a:cs typeface="Arial"/>
            </a:endParaRPr>
          </a:p>
          <a:p>
            <a:pPr marL="189229" algn="l" rtl="0" eaLnBrk="0">
              <a:lnSpc>
                <a:spcPct val="95000"/>
              </a:lnSpc>
              <a:spcBef>
                <a:spcPts val="1136"/>
              </a:spcBef>
              <a:tabLst>
                <a:tab pos="260350" algn="l"/>
              </a:tabLst>
            </a:pP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Crypto</a:t>
            </a:r>
            <a:r>
              <a:rPr sz="900" b="1" kern="0" spc="2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For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ecasting: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508000" indent="-65405" algn="l" rtl="0" eaLnBrk="0">
              <a:lnSpc>
                <a:spcPct val="108000"/>
              </a:lnSpc>
              <a:spcBef>
                <a:spcPts val="2"/>
              </a:spcBef>
              <a:tabLst>
                <a:tab pos="516890" algn="l"/>
              </a:tabLst>
            </a:pP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	</a:t>
            </a: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Lim</a:t>
            </a:r>
            <a:r>
              <a:rPr sz="8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et</a:t>
            </a:r>
            <a:r>
              <a:rPr sz="8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al.  (2021):  Introd</a:t>
            </a: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uced</a:t>
            </a:r>
            <a:r>
              <a:rPr sz="8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Temporal</a:t>
            </a:r>
            <a:r>
              <a:rPr sz="800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Fusion</a:t>
            </a:r>
            <a:r>
              <a:rPr sz="8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Transformers</a:t>
            </a:r>
            <a:r>
              <a:rPr sz="8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(TFT)</a:t>
            </a:r>
            <a:r>
              <a:rPr sz="8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for</a:t>
            </a:r>
            <a:r>
              <a:rPr sz="8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interpretable</a:t>
            </a:r>
            <a:r>
              <a:rPr sz="8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multi-horizon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time</a:t>
            </a:r>
            <a:r>
              <a:rPr sz="8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series</a:t>
            </a:r>
            <a:r>
              <a:rPr sz="8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forecasting.</a:t>
            </a:r>
            <a:endParaRPr sz="800" dirty="0">
              <a:latin typeface="Arial"/>
              <a:ea typeface="Arial"/>
              <a:cs typeface="Arial"/>
            </a:endParaRPr>
          </a:p>
        </p:txBody>
      </p:sp>
      <p:pic>
        <p:nvPicPr>
          <p:cNvPr id="56" name="picture 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21347" y="2435783"/>
            <a:ext cx="48018" cy="48018"/>
          </a:xfrm>
          <a:prstGeom prst="rect">
            <a:avLst/>
          </a:prstGeom>
        </p:spPr>
      </p:pic>
      <p:pic>
        <p:nvPicPr>
          <p:cNvPr id="58" name="picture 5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56705" y="2259723"/>
            <a:ext cx="59601" cy="59601"/>
          </a:xfrm>
          <a:prstGeom prst="rect">
            <a:avLst/>
          </a:prstGeom>
        </p:spPr>
      </p:pic>
      <p:pic>
        <p:nvPicPr>
          <p:cNvPr id="60" name="picture 6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21347" y="1857679"/>
            <a:ext cx="48018" cy="48018"/>
          </a:xfrm>
          <a:prstGeom prst="rect">
            <a:avLst/>
          </a:prstGeom>
        </p:spPr>
      </p:pic>
      <p:pic>
        <p:nvPicPr>
          <p:cNvPr id="62" name="picture 6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56705" y="1681619"/>
            <a:ext cx="59601" cy="59601"/>
          </a:xfrm>
          <a:prstGeom prst="rect">
            <a:avLst/>
          </a:prstGeom>
        </p:spPr>
      </p:pic>
      <p:pic>
        <p:nvPicPr>
          <p:cNvPr id="64" name="picture 6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21347" y="1279588"/>
            <a:ext cx="48018" cy="48018"/>
          </a:xfrm>
          <a:prstGeom prst="rect">
            <a:avLst/>
          </a:prstGeom>
        </p:spPr>
      </p:pic>
      <p:pic>
        <p:nvPicPr>
          <p:cNvPr id="66" name="picture 6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256705" y="1103515"/>
            <a:ext cx="59601" cy="59601"/>
          </a:xfrm>
          <a:prstGeom prst="rect">
            <a:avLst/>
          </a:prstGeom>
        </p:spPr>
      </p:pic>
      <p:sp>
        <p:nvSpPr>
          <p:cNvPr id="68" name="textbox 68"/>
          <p:cNvSpPr/>
          <p:nvPr/>
        </p:nvSpPr>
        <p:spPr>
          <a:xfrm>
            <a:off x="0" y="0"/>
            <a:ext cx="5760084" cy="350520"/>
          </a:xfrm>
          <a:prstGeom prst="rect">
            <a:avLst/>
          </a:prstGeom>
          <a:solidFill>
            <a:srgbClr val="C5050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23825" algn="l" rtl="0" eaLnBrk="0">
              <a:lnSpc>
                <a:spcPct val="93000"/>
              </a:lnSpc>
              <a:tabLst/>
            </a:pPr>
            <a:r>
              <a:rPr sz="13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1.2</a:t>
            </a:r>
            <a:r>
              <a:rPr sz="1300" kern="0" spc="2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Literat</a:t>
            </a:r>
            <a:r>
              <a:rPr sz="13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ure</a:t>
            </a:r>
            <a:r>
              <a:rPr sz="1300" kern="0" spc="2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Review:</a:t>
            </a:r>
            <a:r>
              <a:rPr sz="1300" kern="0" spc="3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Standing</a:t>
            </a:r>
            <a:r>
              <a:rPr sz="1300" kern="0" spc="1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on</a:t>
            </a:r>
            <a:r>
              <a:rPr sz="1300" kern="0" spc="2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Giants</a:t>
            </a:r>
            <a:endParaRPr sz="1300" dirty="0">
              <a:latin typeface="Arial"/>
              <a:ea typeface="Arial"/>
              <a:cs typeface="Arial"/>
            </a:endParaRPr>
          </a:p>
        </p:txBody>
      </p:sp>
      <p:grpSp>
        <p:nvGrpSpPr>
          <p:cNvPr id="8" name="group 8"/>
          <p:cNvGrpSpPr/>
          <p:nvPr/>
        </p:nvGrpSpPr>
        <p:grpSpPr>
          <a:xfrm rot="21600000">
            <a:off x="0" y="3148621"/>
            <a:ext cx="5759919" cy="91376"/>
            <a:chOff x="0" y="0"/>
            <a:chExt cx="5759919" cy="91376"/>
          </a:xfrm>
        </p:grpSpPr>
        <p:pic>
          <p:nvPicPr>
            <p:cNvPr id="70" name="picture 7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0" y="0"/>
              <a:ext cx="5759919" cy="91376"/>
            </a:xfrm>
            <a:prstGeom prst="rect">
              <a:avLst/>
            </a:prstGeom>
          </p:spPr>
        </p:pic>
        <p:sp>
          <p:nvSpPr>
            <p:cNvPr id="72" name="textbox 72"/>
            <p:cNvSpPr/>
            <p:nvPr/>
          </p:nvSpPr>
          <p:spPr>
            <a:xfrm>
              <a:off x="-12700" y="-12699"/>
              <a:ext cx="5785484" cy="11683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700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789940" algn="l" rtl="0" eaLnBrk="0">
                <a:lnSpc>
                  <a:spcPts val="641"/>
                </a:lnSpc>
                <a:tabLst/>
              </a:pPr>
              <a:r>
                <a:rPr sz="400" kern="0" spc="50" dirty="0">
                  <a:solidFill>
                    <a:srgbClr val="F2F2F2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(UW-Madison)</a:t>
              </a:r>
              <a:r>
                <a:rPr sz="400" kern="0" spc="0" dirty="0">
                  <a:solidFill>
                    <a:srgbClr val="F2F2F2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                                                                          </a:t>
              </a:r>
              <a:r>
                <a:rPr sz="400" kern="0" spc="5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9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Semantic</a:t>
              </a:r>
              <a:r>
                <a:rPr sz="400" kern="0" spc="14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9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 </a:t>
              </a:r>
              <a:r>
                <a:rPr sz="400" kern="0" spc="5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9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Sentiment</a:t>
              </a:r>
              <a:r>
                <a:rPr sz="400" kern="0" spc="9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9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 </a:t>
              </a:r>
              <a:r>
                <a:rPr sz="400" kern="0" spc="5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9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&amp;</a:t>
              </a:r>
              <a:r>
                <a:rPr sz="400" kern="0" spc="10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9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 </a:t>
              </a:r>
              <a:r>
                <a:rPr sz="400" kern="0" spc="5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9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C</a:t>
              </a:r>
              <a:r>
                <a:rPr sz="400" kern="0" spc="4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9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rypto</a:t>
              </a:r>
              <a:r>
                <a:rPr sz="400" kern="0" spc="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                                                                   </a:t>
              </a:r>
              <a:r>
                <a:rPr sz="400" kern="0" spc="4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December</a:t>
              </a:r>
              <a:r>
                <a:rPr sz="400" kern="0" spc="14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400" kern="0" spc="4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9,</a:t>
              </a:r>
              <a:r>
                <a:rPr sz="400" kern="0" spc="9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400" kern="0" spc="4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2025</a:t>
              </a:r>
              <a:r>
                <a:rPr sz="400" kern="0" spc="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                            </a:t>
              </a:r>
              <a:r>
                <a:rPr sz="400" kern="0" spc="4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4 / 15</a:t>
              </a:r>
              <a:endParaRPr sz="400" dirty="0">
                <a:latin typeface="Arial"/>
                <a:ea typeface="Arial"/>
                <a:cs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box 74"/>
          <p:cNvSpPr/>
          <p:nvPr/>
        </p:nvSpPr>
        <p:spPr>
          <a:xfrm>
            <a:off x="0" y="0"/>
            <a:ext cx="5760084" cy="350520"/>
          </a:xfrm>
          <a:prstGeom prst="rect">
            <a:avLst/>
          </a:prstGeom>
          <a:solidFill>
            <a:srgbClr val="C5050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23825" algn="l" rtl="0" eaLnBrk="0">
              <a:lnSpc>
                <a:spcPct val="93000"/>
              </a:lnSpc>
              <a:tabLst/>
            </a:pPr>
            <a:r>
              <a:rPr sz="1300" kern="0" spc="-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1.3</a:t>
            </a:r>
            <a:r>
              <a:rPr sz="1300" kern="0" spc="1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-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1300" kern="0" spc="2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-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Research</a:t>
            </a:r>
            <a:r>
              <a:rPr sz="1300" kern="0" spc="2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-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Gap</a:t>
            </a:r>
            <a:endParaRPr sz="1300" dirty="0">
              <a:latin typeface="Arial"/>
              <a:ea typeface="Arial"/>
              <a:cs typeface="Arial"/>
            </a:endParaRPr>
          </a:p>
        </p:txBody>
      </p:sp>
      <p:sp>
        <p:nvSpPr>
          <p:cNvPr id="76" name="textbox 76"/>
          <p:cNvSpPr/>
          <p:nvPr/>
        </p:nvSpPr>
        <p:spPr>
          <a:xfrm>
            <a:off x="2690794" y="1485140"/>
            <a:ext cx="2298700" cy="6165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54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9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Use</a:t>
            </a:r>
            <a:r>
              <a:rPr sz="900" b="1" kern="0" spc="2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Deep</a:t>
            </a:r>
            <a:r>
              <a:rPr sz="900" b="1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Semantic</a:t>
            </a:r>
            <a:r>
              <a:rPr sz="900" b="1" kern="0" spc="2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Embeddings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7000"/>
              </a:lnSpc>
              <a:spcBef>
                <a:spcPts val="159"/>
              </a:spcBef>
              <a:tabLst/>
            </a:pPr>
            <a:r>
              <a:rPr sz="900" b="1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Extract</a:t>
            </a:r>
            <a:r>
              <a:rPr sz="900" b="1" kern="0" spc="1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latent</a:t>
            </a:r>
            <a:r>
              <a:rPr sz="900" b="1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semantic</a:t>
            </a:r>
            <a:r>
              <a:rPr sz="900" b="1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tre</a:t>
            </a:r>
            <a:r>
              <a:rPr sz="900" b="1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nds</a:t>
            </a:r>
            <a:r>
              <a:rPr sz="900" b="1" kern="0" spc="2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(PCA)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Focus</a:t>
            </a:r>
            <a:r>
              <a:rPr sz="900" b="1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on</a:t>
            </a:r>
            <a:r>
              <a:rPr sz="900" b="1" kern="0" spc="2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Lead</a:t>
            </a:r>
            <a:r>
              <a:rPr sz="900" b="1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Lag</a:t>
            </a:r>
            <a:r>
              <a:rPr sz="900" b="1" kern="0" spc="1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Causality</a:t>
            </a:r>
            <a:r>
              <a:rPr sz="900" b="1" kern="0" spc="2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(29</a:t>
            </a:r>
            <a:r>
              <a:rPr sz="900" b="1" kern="0" spc="2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Days</a:t>
            </a:r>
            <a:r>
              <a:rPr sz="900" b="1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)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Explainable</a:t>
            </a:r>
            <a:r>
              <a:rPr sz="900" b="1" kern="0" spc="2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Econometric</a:t>
            </a:r>
            <a:r>
              <a:rPr sz="900" b="1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Validation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78" name="textbox 78"/>
          <p:cNvSpPr/>
          <p:nvPr/>
        </p:nvSpPr>
        <p:spPr>
          <a:xfrm>
            <a:off x="776883" y="1487797"/>
            <a:ext cx="1774825" cy="6134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10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7145" algn="l" rtl="0" eaLnBrk="0">
              <a:lnSpc>
                <a:spcPct val="93000"/>
              </a:lnSpc>
              <a:tabLst/>
            </a:pPr>
            <a:r>
              <a:rPr sz="900" kern="0" spc="0" dirty="0">
                <a:solidFill>
                  <a:srgbClr val="808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Use</a:t>
            </a:r>
            <a:r>
              <a:rPr sz="900" kern="0" spc="150" dirty="0">
                <a:solidFill>
                  <a:srgbClr val="808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70" dirty="0">
                <a:solidFill>
                  <a:srgbClr val="808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”</a:t>
            </a:r>
            <a:r>
              <a:rPr sz="900" kern="0" spc="0" dirty="0">
                <a:solidFill>
                  <a:srgbClr val="808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Bag</a:t>
            </a:r>
            <a:r>
              <a:rPr sz="900" kern="0" spc="70" dirty="0">
                <a:solidFill>
                  <a:srgbClr val="808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kern="0" spc="0" dirty="0">
                <a:solidFill>
                  <a:srgbClr val="808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900" kern="0" spc="70" dirty="0">
                <a:solidFill>
                  <a:srgbClr val="808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kern="0" spc="0" dirty="0">
                <a:solidFill>
                  <a:srgbClr val="808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Words</a:t>
            </a:r>
            <a:r>
              <a:rPr sz="900" kern="0" spc="70" dirty="0">
                <a:solidFill>
                  <a:srgbClr val="808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”</a:t>
            </a:r>
            <a:r>
              <a:rPr sz="900" kern="0" spc="160" dirty="0">
                <a:solidFill>
                  <a:srgbClr val="808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70" dirty="0">
                <a:solidFill>
                  <a:srgbClr val="808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900" kern="0" spc="0" dirty="0">
                <a:solidFill>
                  <a:srgbClr val="808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Lexicon</a:t>
            </a:r>
            <a:r>
              <a:rPr sz="900" kern="0" spc="70" dirty="0">
                <a:solidFill>
                  <a:srgbClr val="808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)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191"/>
              </a:spcBef>
              <a:tabLst/>
            </a:pPr>
            <a:r>
              <a:rPr sz="900" kern="0" spc="0" dirty="0">
                <a:solidFill>
                  <a:srgbClr val="808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Output</a:t>
            </a:r>
            <a:r>
              <a:rPr sz="900" kern="0" spc="110" dirty="0">
                <a:solidFill>
                  <a:srgbClr val="808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808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static</a:t>
            </a:r>
            <a:r>
              <a:rPr sz="900" kern="0" spc="110" dirty="0">
                <a:solidFill>
                  <a:srgbClr val="808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808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scores</a:t>
            </a:r>
            <a:r>
              <a:rPr sz="900" kern="0" spc="160" dirty="0">
                <a:solidFill>
                  <a:srgbClr val="808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50" dirty="0">
                <a:solidFill>
                  <a:srgbClr val="808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(-1</a:t>
            </a:r>
            <a:r>
              <a:rPr sz="900" kern="0" spc="110" dirty="0">
                <a:solidFill>
                  <a:srgbClr val="808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808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to</a:t>
            </a:r>
            <a:r>
              <a:rPr sz="900" kern="0" spc="170" dirty="0">
                <a:solidFill>
                  <a:srgbClr val="808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50" dirty="0">
                <a:solidFill>
                  <a:srgbClr val="808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1)</a:t>
            </a:r>
            <a:endParaRPr sz="900" dirty="0">
              <a:latin typeface="Arial"/>
              <a:ea typeface="Arial"/>
              <a:cs typeface="Arial"/>
            </a:endParaRPr>
          </a:p>
          <a:p>
            <a:pPr marL="17145" algn="l" rtl="0" eaLnBrk="0">
              <a:lnSpc>
                <a:spcPct val="105000"/>
              </a:lnSpc>
              <a:spcBef>
                <a:spcPts val="160"/>
              </a:spcBef>
              <a:tabLst/>
            </a:pPr>
            <a:r>
              <a:rPr sz="900" kern="0" spc="0" dirty="0">
                <a:solidFill>
                  <a:srgbClr val="808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Focus</a:t>
            </a:r>
            <a:r>
              <a:rPr sz="900" kern="0" spc="110" dirty="0">
                <a:solidFill>
                  <a:srgbClr val="808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808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on</a:t>
            </a:r>
            <a:r>
              <a:rPr sz="900" kern="0" spc="110" dirty="0">
                <a:solidFill>
                  <a:srgbClr val="808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808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synchronou</a:t>
            </a: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110" dirty="0">
                <a:solidFill>
                  <a:srgbClr val="808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correlation</a:t>
            </a:r>
            <a:r>
              <a:rPr sz="900" kern="0" spc="0" dirty="0">
                <a:solidFill>
                  <a:srgbClr val="808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808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Black-box</a:t>
            </a:r>
            <a:r>
              <a:rPr sz="900" kern="0" spc="160" dirty="0">
                <a:solidFill>
                  <a:srgbClr val="808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808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predi</a:t>
            </a:r>
            <a:r>
              <a:rPr sz="900" kern="0" spc="0" dirty="0">
                <a:solidFill>
                  <a:srgbClr val="808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ction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grpSp>
        <p:nvGrpSpPr>
          <p:cNvPr id="10" name="group 10"/>
          <p:cNvGrpSpPr/>
          <p:nvPr/>
        </p:nvGrpSpPr>
        <p:grpSpPr>
          <a:xfrm rot="21600000">
            <a:off x="0" y="3148621"/>
            <a:ext cx="5759919" cy="91376"/>
            <a:chOff x="0" y="0"/>
            <a:chExt cx="5759919" cy="91376"/>
          </a:xfrm>
        </p:grpSpPr>
        <p:pic>
          <p:nvPicPr>
            <p:cNvPr id="80" name="picture 8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5759919" cy="91376"/>
            </a:xfrm>
            <a:prstGeom prst="rect">
              <a:avLst/>
            </a:prstGeom>
          </p:spPr>
        </p:pic>
        <p:sp>
          <p:nvSpPr>
            <p:cNvPr id="82" name="textbox 82"/>
            <p:cNvSpPr/>
            <p:nvPr/>
          </p:nvSpPr>
          <p:spPr>
            <a:xfrm>
              <a:off x="-12700" y="-12699"/>
              <a:ext cx="5785484" cy="11683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700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789940" algn="l" rtl="0" eaLnBrk="0">
                <a:lnSpc>
                  <a:spcPts val="641"/>
                </a:lnSpc>
                <a:tabLst/>
              </a:pPr>
              <a:r>
                <a:rPr sz="400" kern="0" spc="50" dirty="0">
                  <a:solidFill>
                    <a:srgbClr val="F2F2F2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(UW-Madison)</a:t>
              </a:r>
              <a:r>
                <a:rPr sz="400" kern="0" spc="0" dirty="0">
                  <a:solidFill>
                    <a:srgbClr val="F2F2F2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                                                                          </a:t>
              </a:r>
              <a:r>
                <a:rPr sz="400" kern="0" spc="5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3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Semantic</a:t>
              </a:r>
              <a:r>
                <a:rPr sz="400" kern="0" spc="14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3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 </a:t>
              </a:r>
              <a:r>
                <a:rPr sz="400" kern="0" spc="5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3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Sentiment</a:t>
              </a:r>
              <a:r>
                <a:rPr sz="400" kern="0" spc="8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3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 </a:t>
              </a:r>
              <a:r>
                <a:rPr sz="400" kern="0" spc="5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3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&amp;</a:t>
              </a:r>
              <a:r>
                <a:rPr sz="400" kern="0" spc="10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3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 </a:t>
              </a:r>
              <a:r>
                <a:rPr sz="400" kern="0" spc="5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3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C</a:t>
              </a:r>
              <a:r>
                <a:rPr sz="400" kern="0" spc="4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3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rypto</a:t>
              </a:r>
              <a:r>
                <a:rPr sz="400" kern="0" spc="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                                                                   </a:t>
              </a:r>
              <a:r>
                <a:rPr sz="400" kern="0" spc="4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December</a:t>
              </a:r>
              <a:r>
                <a:rPr sz="400" kern="0" spc="15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400" kern="0" spc="4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9,</a:t>
              </a:r>
              <a:r>
                <a:rPr sz="400" kern="0" spc="8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400" kern="0" spc="4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2025</a:t>
              </a:r>
              <a:r>
                <a:rPr sz="400" kern="0" spc="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                            </a:t>
              </a:r>
              <a:r>
                <a:rPr sz="400" kern="0" spc="4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5 / 15</a:t>
              </a:r>
              <a:endParaRPr sz="4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84" name="textbox 84"/>
          <p:cNvSpPr/>
          <p:nvPr/>
        </p:nvSpPr>
        <p:spPr>
          <a:xfrm>
            <a:off x="781311" y="1260347"/>
            <a:ext cx="3411220" cy="177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3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Existing</a:t>
            </a:r>
            <a:r>
              <a:rPr sz="900" b="1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Approaches</a:t>
            </a:r>
            <a:r>
              <a:rPr sz="900" b="1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</a:t>
            </a:r>
            <a:r>
              <a:rPr sz="900" b="1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Our</a:t>
            </a:r>
            <a:r>
              <a:rPr sz="900" b="1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Approach</a:t>
            </a:r>
            <a:r>
              <a:rPr sz="900" b="1" kern="0" spc="2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AAE</a:t>
            </a:r>
            <a:r>
              <a:rPr sz="900" b="1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722)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86" name="path 86"/>
          <p:cNvSpPr/>
          <p:nvPr/>
        </p:nvSpPr>
        <p:spPr>
          <a:xfrm>
            <a:off x="2615970" y="1273047"/>
            <a:ext cx="5054" cy="151828"/>
          </a:xfrm>
          <a:custGeom>
            <a:avLst/>
            <a:gdLst/>
            <a:ahLst/>
            <a:cxnLst/>
            <a:rect l="0" t="0" r="0" b="0"/>
            <a:pathLst>
              <a:path w="7" h="239">
                <a:moveTo>
                  <a:pt x="3" y="239"/>
                </a:moveTo>
                <a:lnTo>
                  <a:pt x="3" y="0"/>
                </a:lnTo>
              </a:path>
            </a:pathLst>
          </a:custGeom>
          <a:noFill/>
          <a:ln w="5054" cap="flat">
            <a:solidFill>
              <a:srgbClr val="000000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8" name="textbox 88"/>
          <p:cNvSpPr/>
          <p:nvPr/>
        </p:nvSpPr>
        <p:spPr>
          <a:xfrm>
            <a:off x="1038643" y="2403200"/>
            <a:ext cx="3700145" cy="153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10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We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treat</a:t>
            </a: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sentiment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not</a:t>
            </a:r>
            <a:r>
              <a:rPr sz="900" kern="0" spc="-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just</a:t>
            </a: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as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900" kern="0" spc="1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feature,</a:t>
            </a:r>
            <a:r>
              <a:rPr sz="900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but</a:t>
            </a: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as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distinct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asset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class.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90" name="textbox 90"/>
          <p:cNvSpPr/>
          <p:nvPr/>
        </p:nvSpPr>
        <p:spPr>
          <a:xfrm>
            <a:off x="116866" y="796507"/>
            <a:ext cx="2155189" cy="1562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54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Why</a:t>
            </a:r>
            <a:r>
              <a:rPr sz="900" b="1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is</a:t>
            </a:r>
            <a:r>
              <a:rPr sz="900" b="1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existing</a:t>
            </a:r>
            <a:r>
              <a:rPr sz="900" b="1" kern="0" spc="1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research</a:t>
            </a:r>
            <a:r>
              <a:rPr sz="900" b="1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insuffi</a:t>
            </a:r>
            <a:r>
              <a:rPr sz="9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cient?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92" name="path 92"/>
          <p:cNvSpPr/>
          <p:nvPr/>
        </p:nvSpPr>
        <p:spPr>
          <a:xfrm>
            <a:off x="706577" y="1226381"/>
            <a:ext cx="4346829" cy="10121"/>
          </a:xfrm>
          <a:custGeom>
            <a:avLst/>
            <a:gdLst/>
            <a:ahLst/>
            <a:cxnLst/>
            <a:rect l="0" t="0" r="0" b="0"/>
            <a:pathLst>
              <a:path w="6845" h="15">
                <a:moveTo>
                  <a:pt x="0" y="7"/>
                </a:moveTo>
                <a:lnTo>
                  <a:pt x="6845" y="7"/>
                </a:lnTo>
              </a:path>
            </a:pathLst>
          </a:custGeom>
          <a:noFill/>
          <a:ln w="10121" cap="flat">
            <a:solidFill>
              <a:srgbClr val="000000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4" name="path 94"/>
          <p:cNvSpPr/>
          <p:nvPr/>
        </p:nvSpPr>
        <p:spPr>
          <a:xfrm>
            <a:off x="706577" y="2120068"/>
            <a:ext cx="4346829" cy="10121"/>
          </a:xfrm>
          <a:custGeom>
            <a:avLst/>
            <a:gdLst/>
            <a:ahLst/>
            <a:cxnLst/>
            <a:rect l="0" t="0" r="0" b="0"/>
            <a:pathLst>
              <a:path w="6845" h="15">
                <a:moveTo>
                  <a:pt x="0" y="7"/>
                </a:moveTo>
                <a:lnTo>
                  <a:pt x="6845" y="7"/>
                </a:lnTo>
              </a:path>
            </a:pathLst>
          </a:custGeom>
          <a:noFill/>
          <a:ln w="10121" cap="flat">
            <a:solidFill>
              <a:srgbClr val="000000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6" name="path 96"/>
          <p:cNvSpPr/>
          <p:nvPr/>
        </p:nvSpPr>
        <p:spPr>
          <a:xfrm>
            <a:off x="706577" y="1447368"/>
            <a:ext cx="4346829" cy="6324"/>
          </a:xfrm>
          <a:custGeom>
            <a:avLst/>
            <a:gdLst/>
            <a:ahLst/>
            <a:cxnLst/>
            <a:rect l="0" t="0" r="0" b="0"/>
            <a:pathLst>
              <a:path w="6845" h="9">
                <a:moveTo>
                  <a:pt x="0" y="4"/>
                </a:moveTo>
                <a:lnTo>
                  <a:pt x="6845" y="4"/>
                </a:lnTo>
              </a:path>
            </a:pathLst>
          </a:custGeom>
          <a:noFill/>
          <a:ln w="6324" cap="flat">
            <a:solidFill>
              <a:srgbClr val="000000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8" name="path 98"/>
          <p:cNvSpPr/>
          <p:nvPr/>
        </p:nvSpPr>
        <p:spPr>
          <a:xfrm>
            <a:off x="2613545" y="1490256"/>
            <a:ext cx="5054" cy="607313"/>
          </a:xfrm>
          <a:custGeom>
            <a:avLst/>
            <a:gdLst/>
            <a:ahLst/>
            <a:cxnLst/>
            <a:rect l="0" t="0" r="0" b="0"/>
            <a:pathLst>
              <a:path w="7" h="956">
                <a:moveTo>
                  <a:pt x="3" y="239"/>
                </a:moveTo>
                <a:lnTo>
                  <a:pt x="3" y="0"/>
                </a:lnTo>
                <a:moveTo>
                  <a:pt x="3" y="478"/>
                </a:moveTo>
                <a:lnTo>
                  <a:pt x="3" y="239"/>
                </a:lnTo>
                <a:moveTo>
                  <a:pt x="3" y="717"/>
                </a:moveTo>
                <a:lnTo>
                  <a:pt x="3" y="478"/>
                </a:lnTo>
                <a:moveTo>
                  <a:pt x="3" y="956"/>
                </a:moveTo>
                <a:lnTo>
                  <a:pt x="3" y="717"/>
                </a:lnTo>
              </a:path>
            </a:pathLst>
          </a:custGeom>
          <a:noFill/>
          <a:ln w="5054" cap="flat">
            <a:solidFill>
              <a:srgbClr val="000000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box 100"/>
          <p:cNvSpPr/>
          <p:nvPr/>
        </p:nvSpPr>
        <p:spPr>
          <a:xfrm>
            <a:off x="76714" y="699506"/>
            <a:ext cx="5490845" cy="24155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54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9050" algn="l" rtl="0" eaLnBrk="0">
              <a:lnSpc>
                <a:spcPct val="95000"/>
              </a:lnSpc>
              <a:tabLst/>
            </a:pPr>
            <a:r>
              <a:rPr sz="900" b="1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Recurrent</a:t>
            </a:r>
            <a:r>
              <a:rPr sz="900" b="1" kern="0" spc="2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Neu</a:t>
            </a:r>
            <a:r>
              <a:rPr sz="900" b="1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ral</a:t>
            </a:r>
            <a:r>
              <a:rPr sz="900" b="1" kern="0" spc="2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Networks</a:t>
            </a:r>
            <a:r>
              <a:rPr sz="900" b="1" kern="0" spc="2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(RNNs):</a:t>
            </a:r>
            <a:endParaRPr sz="900" dirty="0">
              <a:latin typeface="Arial"/>
              <a:ea typeface="Arial"/>
              <a:cs typeface="Arial"/>
            </a:endParaRPr>
          </a:p>
          <a:p>
            <a:pPr marL="196850" algn="l" rtl="0" eaLnBrk="0">
              <a:lnSpc>
                <a:spcPct val="93000"/>
              </a:lnSpc>
              <a:spcBef>
                <a:spcPts val="490"/>
              </a:spcBef>
              <a:tabLst>
                <a:tab pos="262254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We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learned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class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hat</a:t>
            </a:r>
            <a:r>
              <a:rPr sz="900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RNNs</a:t>
            </a:r>
            <a:r>
              <a:rPr sz="900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process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data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sequentially</a:t>
            </a:r>
            <a:endParaRPr sz="900" dirty="0">
              <a:latin typeface="Arial"/>
              <a:ea typeface="Arial"/>
              <a:cs typeface="Arial"/>
            </a:endParaRPr>
          </a:p>
          <a:p>
            <a:pPr marL="270509" algn="l" rtl="0" eaLnBrk="0">
              <a:lnSpc>
                <a:spcPts val="1195"/>
              </a:lnSpc>
              <a:tabLst/>
            </a:pP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step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by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step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).</a:t>
            </a:r>
            <a:endParaRPr sz="900" dirty="0">
              <a:latin typeface="Arial"/>
              <a:ea typeface="Arial"/>
              <a:cs typeface="Arial"/>
            </a:endParaRPr>
          </a:p>
          <a:p>
            <a:pPr marL="196850" algn="l" rtl="0" eaLnBrk="0">
              <a:lnSpc>
                <a:spcPct val="93000"/>
              </a:lnSpc>
              <a:spcBef>
                <a:spcPts val="490"/>
              </a:spcBef>
              <a:tabLst>
                <a:tab pos="271779" algn="l"/>
              </a:tabLst>
            </a:pP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b="1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Limitation:</a:t>
            </a:r>
            <a:r>
              <a:rPr sz="900" b="1" kern="0" spc="2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They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uffer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from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”Short-term</a:t>
            </a:r>
            <a:r>
              <a:rPr sz="900" kern="0" spc="1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Memory”</a:t>
            </a:r>
            <a:endParaRPr sz="900" dirty="0">
              <a:latin typeface="Arial"/>
              <a:ea typeface="Arial"/>
              <a:cs typeface="Arial"/>
            </a:endParaRPr>
          </a:p>
          <a:p>
            <a:pPr marL="270509" algn="l" rtl="0" eaLnBrk="0">
              <a:lnSpc>
                <a:spcPct val="93000"/>
              </a:lnSpc>
              <a:spcBef>
                <a:spcPts val="191"/>
              </a:spcBef>
              <a:tabLst/>
            </a:pP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(Vanishing</a:t>
            </a:r>
            <a:r>
              <a:rPr sz="9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Gradient)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ar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slow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to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train.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1319"/>
              </a:spcBef>
              <a:tabLst/>
            </a:pP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900" b="1" kern="0" spc="2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Transformer</a:t>
            </a:r>
            <a:r>
              <a:rPr sz="900" b="1" kern="0" spc="2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Vaswani</a:t>
            </a:r>
            <a:r>
              <a:rPr sz="900" b="1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et</a:t>
            </a:r>
            <a:r>
              <a:rPr sz="900" b="1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al</a:t>
            </a:r>
            <a:r>
              <a:rPr sz="900" b="1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.,</a:t>
            </a:r>
            <a:r>
              <a:rPr sz="900" b="1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2017):</a:t>
            </a:r>
            <a:endParaRPr sz="900" dirty="0">
              <a:latin typeface="Arial"/>
              <a:ea typeface="Arial"/>
              <a:cs typeface="Arial"/>
            </a:endParaRPr>
          </a:p>
          <a:p>
            <a:pPr marL="196850" algn="l" rtl="0" eaLnBrk="0">
              <a:lnSpc>
                <a:spcPct val="93000"/>
              </a:lnSpc>
              <a:spcBef>
                <a:spcPts val="490"/>
              </a:spcBef>
              <a:tabLst>
                <a:tab pos="271779" algn="l"/>
              </a:tabLst>
            </a:pP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Parallelism: 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Processe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entire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sentence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at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once,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not</a:t>
            </a:r>
            <a:endParaRPr sz="900" dirty="0">
              <a:latin typeface="Arial"/>
              <a:ea typeface="Arial"/>
              <a:cs typeface="Arial"/>
            </a:endParaRPr>
          </a:p>
          <a:p>
            <a:pPr marL="262254" algn="l" rtl="0" eaLnBrk="0">
              <a:lnSpc>
                <a:spcPts val="1195"/>
              </a:lnSpc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word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by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word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endParaRPr sz="900" dirty="0">
              <a:latin typeface="Arial"/>
              <a:ea typeface="Arial"/>
              <a:cs typeface="Arial"/>
            </a:endParaRPr>
          </a:p>
          <a:p>
            <a:pPr marL="196850" algn="l" rtl="0" eaLnBrk="0">
              <a:lnSpc>
                <a:spcPct val="75000"/>
              </a:lnSpc>
              <a:spcBef>
                <a:spcPts val="437"/>
              </a:spcBef>
              <a:tabLst>
                <a:tab pos="266700" algn="l"/>
              </a:tabLst>
            </a:pP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b="1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Self-Attenti</a:t>
            </a:r>
            <a:r>
              <a:rPr sz="900" b="1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on</a:t>
            </a:r>
            <a:r>
              <a:rPr sz="900" b="1" kern="0" spc="2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Mechanism:</a:t>
            </a:r>
            <a:endParaRPr sz="900" dirty="0">
              <a:latin typeface="Arial"/>
              <a:ea typeface="Arial"/>
              <a:cs typeface="Arial"/>
            </a:endParaRPr>
          </a:p>
          <a:p>
            <a:pPr marL="450215" algn="l" rtl="0" eaLnBrk="0">
              <a:lnSpc>
                <a:spcPct val="94000"/>
              </a:lnSpc>
              <a:spcBef>
                <a:spcPts val="516"/>
              </a:spcBef>
              <a:tabLst>
                <a:tab pos="516890" algn="l"/>
              </a:tabLst>
            </a:pP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Allows</a:t>
            </a:r>
            <a:r>
              <a:rPr sz="8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8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model</a:t>
            </a:r>
            <a:r>
              <a:rPr sz="8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to</a:t>
            </a:r>
            <a:r>
              <a:rPr sz="8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weigh</a:t>
            </a:r>
            <a:r>
              <a:rPr sz="8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8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importance</a:t>
            </a:r>
            <a:r>
              <a:rPr sz="8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different</a:t>
            </a:r>
            <a:endParaRPr sz="800" dirty="0">
              <a:latin typeface="Arial"/>
              <a:ea typeface="Arial"/>
              <a:cs typeface="Arial"/>
            </a:endParaRPr>
          </a:p>
          <a:p>
            <a:pPr marL="514984" algn="l" rtl="0" eaLnBrk="0">
              <a:lnSpc>
                <a:spcPts val="1095"/>
              </a:lnSpc>
              <a:tabLst/>
            </a:pPr>
            <a:r>
              <a:rPr sz="8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words</a:t>
            </a:r>
            <a:r>
              <a:rPr sz="8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rega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rdless</a:t>
            </a:r>
            <a:r>
              <a:rPr sz="8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distance.</a:t>
            </a:r>
            <a:endParaRPr sz="800" dirty="0">
              <a:latin typeface="Arial"/>
              <a:ea typeface="Arial"/>
              <a:cs typeface="Arial"/>
            </a:endParaRPr>
          </a:p>
          <a:p>
            <a:pPr marL="450215" algn="l" rtl="0" eaLnBrk="0">
              <a:lnSpc>
                <a:spcPct val="94000"/>
              </a:lnSpc>
              <a:spcBef>
                <a:spcPts val="194"/>
              </a:spcBef>
              <a:tabLst>
                <a:tab pos="524509" algn="l"/>
              </a:tabLst>
            </a:pP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8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Example:  Bitcoin</a:t>
            </a:r>
            <a:r>
              <a:rPr sz="800" kern="0" spc="2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is</a:t>
            </a:r>
            <a:r>
              <a:rPr sz="8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not</a:t>
            </a:r>
            <a:r>
              <a:rPr sz="800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Dead.</a:t>
            </a:r>
            <a:endParaRPr sz="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3000"/>
              </a:lnSpc>
              <a:spcBef>
                <a:spcPts val="2"/>
              </a:spcBef>
              <a:tabLst/>
            </a:pP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figure</a:t>
            </a:r>
            <a:r>
              <a:rPr sz="7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Transformer</a:t>
            </a:r>
            <a:r>
              <a:rPr sz="7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Arch</a:t>
            </a:r>
            <a:r>
              <a:rPr sz="7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itecture</a:t>
            </a:r>
            <a:r>
              <a:rPr sz="7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(Lecture</a:t>
            </a:r>
            <a:r>
              <a:rPr sz="7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8)</a:t>
            </a:r>
            <a:endParaRPr sz="700" dirty="0">
              <a:latin typeface="Arial"/>
              <a:ea typeface="Arial"/>
              <a:cs typeface="Arial"/>
            </a:endParaRPr>
          </a:p>
        </p:txBody>
      </p:sp>
      <p:pic>
        <p:nvPicPr>
          <p:cNvPr id="102" name="picture 1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79170" y="2702967"/>
            <a:ext cx="48018" cy="48018"/>
          </a:xfrm>
          <a:prstGeom prst="rect">
            <a:avLst/>
          </a:prstGeom>
        </p:spPr>
      </p:pic>
      <p:pic>
        <p:nvPicPr>
          <p:cNvPr id="104" name="picture 10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79170" y="2424608"/>
            <a:ext cx="48018" cy="48018"/>
          </a:xfrm>
          <a:prstGeom prst="rect">
            <a:avLst/>
          </a:prstGeom>
        </p:spPr>
      </p:pic>
      <p:pic>
        <p:nvPicPr>
          <p:cNvPr id="106" name="picture 10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14528" y="2248536"/>
            <a:ext cx="59601" cy="59601"/>
          </a:xfrm>
          <a:prstGeom prst="rect">
            <a:avLst/>
          </a:prstGeom>
        </p:spPr>
      </p:pic>
      <p:pic>
        <p:nvPicPr>
          <p:cNvPr id="108" name="picture 10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14528" y="1919580"/>
            <a:ext cx="59601" cy="59601"/>
          </a:xfrm>
          <a:prstGeom prst="rect">
            <a:avLst/>
          </a:prstGeom>
        </p:spPr>
      </p:pic>
      <p:pic>
        <p:nvPicPr>
          <p:cNvPr id="110" name="picture 1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14528" y="1280173"/>
            <a:ext cx="59601" cy="59601"/>
          </a:xfrm>
          <a:prstGeom prst="rect">
            <a:avLst/>
          </a:prstGeom>
        </p:spPr>
      </p:pic>
      <p:pic>
        <p:nvPicPr>
          <p:cNvPr id="112" name="picture 1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214528" y="938544"/>
            <a:ext cx="59601" cy="59601"/>
          </a:xfrm>
          <a:prstGeom prst="rect">
            <a:avLst/>
          </a:prstGeom>
        </p:spPr>
      </p:pic>
      <p:pic>
        <p:nvPicPr>
          <p:cNvPr id="114" name="picture 1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3583050" y="395939"/>
            <a:ext cx="1982455" cy="2522648"/>
          </a:xfrm>
          <a:prstGeom prst="rect">
            <a:avLst/>
          </a:prstGeom>
        </p:spPr>
      </p:pic>
      <p:sp>
        <p:nvSpPr>
          <p:cNvPr id="116" name="textbox 116"/>
          <p:cNvSpPr/>
          <p:nvPr/>
        </p:nvSpPr>
        <p:spPr>
          <a:xfrm>
            <a:off x="0" y="0"/>
            <a:ext cx="5760084" cy="350520"/>
          </a:xfrm>
          <a:prstGeom prst="rect">
            <a:avLst/>
          </a:prstGeom>
          <a:solidFill>
            <a:srgbClr val="C5050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14935" algn="l" rtl="0" eaLnBrk="0">
              <a:lnSpc>
                <a:spcPct val="86000"/>
              </a:lnSpc>
              <a:spcBef>
                <a:spcPts val="6"/>
              </a:spcBef>
              <a:tabLst/>
            </a:pPr>
            <a:r>
              <a:rPr sz="1400" kern="0" spc="-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2.1</a:t>
            </a:r>
            <a:r>
              <a:rPr sz="1400" kern="0" spc="1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1400" kern="0" spc="2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Evolutio</a:t>
            </a:r>
            <a:r>
              <a:rPr sz="1400" kern="0" spc="-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n:  From</a:t>
            </a:r>
            <a:r>
              <a:rPr sz="1400" kern="0" spc="2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RNN</a:t>
            </a:r>
            <a:r>
              <a:rPr sz="1400" kern="0" spc="1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to</a:t>
            </a:r>
            <a:r>
              <a:rPr sz="1400" kern="0" spc="1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Transformers</a:t>
            </a:r>
            <a:endParaRPr sz="1400" dirty="0">
              <a:latin typeface="Arial"/>
              <a:ea typeface="Arial"/>
              <a:cs typeface="Arial"/>
            </a:endParaRPr>
          </a:p>
        </p:txBody>
      </p:sp>
      <p:grpSp>
        <p:nvGrpSpPr>
          <p:cNvPr id="12" name="group 12"/>
          <p:cNvGrpSpPr/>
          <p:nvPr/>
        </p:nvGrpSpPr>
        <p:grpSpPr>
          <a:xfrm rot="21600000">
            <a:off x="0" y="3148623"/>
            <a:ext cx="5759918" cy="91374"/>
            <a:chOff x="0" y="0"/>
            <a:chExt cx="5759918" cy="91374"/>
          </a:xfrm>
        </p:grpSpPr>
        <p:pic>
          <p:nvPicPr>
            <p:cNvPr id="118" name="picture 118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0" y="0"/>
              <a:ext cx="5759918" cy="91374"/>
            </a:xfrm>
            <a:prstGeom prst="rect">
              <a:avLst/>
            </a:prstGeom>
          </p:spPr>
        </p:pic>
        <p:sp>
          <p:nvSpPr>
            <p:cNvPr id="120" name="textbox 120"/>
            <p:cNvSpPr/>
            <p:nvPr/>
          </p:nvSpPr>
          <p:spPr>
            <a:xfrm>
              <a:off x="-12700" y="-12699"/>
              <a:ext cx="5785484" cy="11683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700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789940" algn="l" rtl="0" eaLnBrk="0">
                <a:lnSpc>
                  <a:spcPts val="641"/>
                </a:lnSpc>
                <a:tabLst/>
              </a:pPr>
              <a:r>
                <a:rPr sz="400" kern="0" spc="50" dirty="0">
                  <a:solidFill>
                    <a:srgbClr val="F2F2F2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(UW-Madison)</a:t>
              </a:r>
              <a:r>
                <a:rPr sz="400" kern="0" spc="0" dirty="0">
                  <a:solidFill>
                    <a:srgbClr val="F2F2F2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                                                                          </a:t>
              </a:r>
              <a:r>
                <a:rPr sz="400" kern="0" spc="5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10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Semantic</a:t>
              </a:r>
              <a:r>
                <a:rPr sz="400" kern="0" spc="14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10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 </a:t>
              </a:r>
              <a:r>
                <a:rPr sz="400" kern="0" spc="5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10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Sentiment</a:t>
              </a:r>
              <a:r>
                <a:rPr sz="400" kern="0" spc="8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10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 </a:t>
              </a:r>
              <a:r>
                <a:rPr sz="400" kern="0" spc="5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10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&amp;</a:t>
              </a:r>
              <a:r>
                <a:rPr sz="400" kern="0" spc="10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10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 </a:t>
              </a:r>
              <a:r>
                <a:rPr sz="400" kern="0" spc="5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10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C</a:t>
              </a:r>
              <a:r>
                <a:rPr sz="400" kern="0" spc="4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10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rypto</a:t>
              </a:r>
              <a:r>
                <a:rPr sz="400" kern="0" spc="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                                                                   </a:t>
              </a:r>
              <a:r>
                <a:rPr sz="400" kern="0" spc="4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December</a:t>
              </a:r>
              <a:r>
                <a:rPr sz="400" kern="0" spc="15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400" kern="0" spc="4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9,</a:t>
              </a:r>
              <a:r>
                <a:rPr sz="400" kern="0" spc="8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400" kern="0" spc="4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2025</a:t>
              </a:r>
              <a:r>
                <a:rPr sz="400" kern="0" spc="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                            </a:t>
              </a:r>
              <a:r>
                <a:rPr sz="400" kern="0" spc="4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6 / 15</a:t>
              </a:r>
              <a:endParaRPr sz="400" dirty="0">
                <a:latin typeface="Arial"/>
                <a:ea typeface="Arial"/>
                <a:cs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box 122"/>
          <p:cNvSpPr/>
          <p:nvPr/>
        </p:nvSpPr>
        <p:spPr>
          <a:xfrm>
            <a:off x="74689" y="565723"/>
            <a:ext cx="5262879" cy="23361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54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9055" algn="l" rtl="0" eaLnBrk="0">
              <a:lnSpc>
                <a:spcPct val="95000"/>
              </a:lnSpc>
              <a:tabLst/>
            </a:pPr>
            <a:r>
              <a:rPr sz="9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Concept</a:t>
            </a:r>
            <a:r>
              <a:rPr lang="en-US" sz="9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:</a:t>
            </a:r>
            <a:endParaRPr lang="en-US" sz="900" dirty="0">
              <a:latin typeface="Arial"/>
              <a:ea typeface="Arial"/>
              <a:cs typeface="Arial"/>
            </a:endParaRPr>
          </a:p>
          <a:p>
            <a:pPr marL="241300" algn="l" rtl="0" eaLnBrk="0">
              <a:lnSpc>
                <a:spcPct val="95000"/>
              </a:lnSpc>
              <a:spcBef>
                <a:spcPts val="468"/>
              </a:spcBef>
              <a:tabLst>
                <a:tab pos="312420" algn="l"/>
              </a:tabLst>
            </a:pPr>
            <a:r>
              <a:rPr lang="en-US" sz="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One</a:t>
            </a:r>
            <a:r>
              <a:rPr lang="en-US" sz="9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lang="en-US" sz="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Hot</a:t>
            </a:r>
            <a:r>
              <a:rPr lang="en-US" sz="900" b="1" kern="0" spc="2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Encoding</a:t>
            </a:r>
            <a:r>
              <a:rPr lang="en-US" sz="9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:</a:t>
            </a:r>
            <a:r>
              <a:rPr lang="en-US" sz="900" b="1" kern="0" spc="2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Sparse</a:t>
            </a:r>
            <a:r>
              <a:rPr lang="en-US" sz="9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lang="en-US" sz="900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high</a:t>
            </a:r>
            <a:r>
              <a:rPr lang="en-US"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lang="en-US"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dimensional</a:t>
            </a:r>
            <a:r>
              <a:rPr lang="en-US" sz="9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(e.g.,</a:t>
            </a:r>
            <a:r>
              <a:rPr lang="en-US" sz="900" kern="0" spc="2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[0,</a:t>
            </a:r>
            <a:r>
              <a:rPr lang="en-US" sz="900" kern="0" spc="-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0, 1,</a:t>
            </a:r>
            <a:r>
              <a:rPr lang="en-US" sz="900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</a:t>
            </a:r>
            <a:r>
              <a:rPr lang="en-US"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..]).  No</a:t>
            </a:r>
            <a:r>
              <a:rPr lang="en-US" sz="9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semantic</a:t>
            </a:r>
            <a:r>
              <a:rPr lang="en-US" sz="9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meaning.</a:t>
            </a:r>
            <a:endParaRPr lang="en-US" sz="900" dirty="0">
              <a:latin typeface="Arial"/>
              <a:ea typeface="Arial"/>
              <a:cs typeface="Arial"/>
            </a:endParaRPr>
          </a:p>
          <a:p>
            <a:pPr marL="241300" algn="l" rtl="0" eaLnBrk="0">
              <a:lnSpc>
                <a:spcPct val="95000"/>
              </a:lnSpc>
              <a:spcBef>
                <a:spcPts val="468"/>
              </a:spcBef>
              <a:tabLst>
                <a:tab pos="316229" algn="l"/>
              </a:tabLst>
            </a:pP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Dense</a:t>
            </a:r>
            <a:r>
              <a:rPr sz="900" b="1" kern="0" spc="2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Embeddings</a:t>
            </a:r>
            <a:r>
              <a:rPr sz="900" b="1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: 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Low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dimensional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continuous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vectors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learned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from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data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277"/>
              </a:spcBef>
              <a:tabLst/>
            </a:pP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Why</a:t>
            </a:r>
            <a:r>
              <a:rPr sz="900" b="1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is</a:t>
            </a:r>
            <a:r>
              <a:rPr sz="900" b="1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this</a:t>
            </a:r>
            <a:r>
              <a:rPr sz="900" b="1" kern="0" spc="1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useful</a:t>
            </a:r>
            <a:r>
              <a:rPr sz="900" b="1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for</a:t>
            </a:r>
            <a:r>
              <a:rPr sz="900" b="1" kern="0" spc="2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</a:t>
            </a:r>
            <a:r>
              <a:rPr sz="9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inance?</a:t>
            </a:r>
            <a:endParaRPr sz="900" dirty="0">
              <a:latin typeface="Arial"/>
              <a:ea typeface="Arial"/>
              <a:cs typeface="Arial"/>
            </a:endParaRPr>
          </a:p>
          <a:p>
            <a:pPr marL="199389" algn="l" rtl="0" eaLnBrk="0">
              <a:lnSpc>
                <a:spcPct val="93000"/>
              </a:lnSpc>
              <a:spcBef>
                <a:spcPts val="490"/>
              </a:spcBef>
              <a:tabLst>
                <a:tab pos="264159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Words</a:t>
            </a: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with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similar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me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anings</a:t>
            </a:r>
            <a:r>
              <a:rPr sz="900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map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to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similar</a:t>
            </a:r>
            <a:endParaRPr sz="900" dirty="0">
              <a:latin typeface="Arial"/>
              <a:ea typeface="Arial"/>
              <a:cs typeface="Arial"/>
            </a:endParaRPr>
          </a:p>
          <a:p>
            <a:pPr marL="266065" algn="l" rtl="0" eaLnBrk="0">
              <a:lnSpc>
                <a:spcPts val="1195"/>
              </a:lnSpc>
              <a:tabLst/>
            </a:pP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geometric</a:t>
            </a:r>
            <a:r>
              <a:rPr sz="9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loca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tions.</a:t>
            </a:r>
            <a:endParaRPr sz="900" dirty="0">
              <a:latin typeface="Arial"/>
              <a:ea typeface="Arial"/>
              <a:cs typeface="Arial"/>
            </a:endParaRPr>
          </a:p>
          <a:p>
            <a:pPr marL="199389" algn="l" rtl="0" eaLnBrk="0">
              <a:lnSpc>
                <a:spcPct val="93000"/>
              </a:lnSpc>
              <a:spcBef>
                <a:spcPts val="490"/>
              </a:spcBef>
              <a:tabLst>
                <a:tab pos="264159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We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can</a:t>
            </a:r>
            <a:r>
              <a:rPr sz="900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perform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Vector</a:t>
            </a:r>
            <a:r>
              <a:rPr sz="900" b="1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Ari</a:t>
            </a:r>
            <a:r>
              <a:rPr sz="9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thmetic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:</a:t>
            </a:r>
            <a:endParaRPr sz="900" dirty="0">
              <a:latin typeface="Arial"/>
              <a:ea typeface="Arial"/>
              <a:cs typeface="Arial"/>
            </a:endParaRPr>
          </a:p>
          <a:p>
            <a:pPr marL="199389" algn="l" rtl="0" eaLnBrk="0">
              <a:lnSpc>
                <a:spcPct val="93000"/>
              </a:lnSpc>
              <a:spcBef>
                <a:spcPts val="490"/>
              </a:spcBef>
              <a:tabLst>
                <a:tab pos="269240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</a:t>
            </a:r>
            <a:r>
              <a:rPr sz="900" kern="0" spc="-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King</a:t>
            </a: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) </a:t>
            </a: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- </a:t>
            </a: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</a:t>
            </a:r>
            <a:r>
              <a:rPr sz="900" kern="0" spc="-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Man</a:t>
            </a: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) + </a:t>
            </a: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</a:t>
            </a:r>
            <a:r>
              <a:rPr sz="900" kern="0" spc="-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Woman</a:t>
            </a: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) </a:t>
            </a: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≈ </a:t>
            </a: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</a:t>
            </a:r>
            <a:r>
              <a:rPr sz="900" kern="0" spc="-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Queen</a:t>
            </a: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)</a:t>
            </a:r>
            <a:endParaRPr sz="900" dirty="0">
              <a:latin typeface="Arial"/>
              <a:ea typeface="Arial"/>
              <a:cs typeface="Arial"/>
            </a:endParaRPr>
          </a:p>
          <a:p>
            <a:pPr marL="199389" algn="l" rtl="0" eaLnBrk="0">
              <a:lnSpc>
                <a:spcPct val="95000"/>
              </a:lnSpc>
              <a:spcBef>
                <a:spcPts val="468"/>
              </a:spcBef>
              <a:tabLst>
                <a:tab pos="274320" algn="l"/>
              </a:tabLst>
            </a:pP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</a:t>
            </a:r>
            <a:r>
              <a:rPr sz="900" b="1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our</a:t>
            </a:r>
            <a:r>
              <a:rPr sz="900" b="1" kern="0" spc="2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Project:</a:t>
            </a:r>
            <a:endParaRPr sz="900" dirty="0">
              <a:latin typeface="Arial"/>
              <a:ea typeface="Arial"/>
              <a:cs typeface="Arial"/>
            </a:endParaRPr>
          </a:p>
          <a:p>
            <a:pPr marL="269240" algn="l" rtl="0" eaLnBrk="0">
              <a:lnSpc>
                <a:spcPct val="92000"/>
              </a:lnSpc>
              <a:spcBef>
                <a:spcPts val="202"/>
              </a:spcBef>
              <a:tabLst/>
            </a:pP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</a:t>
            </a:r>
            <a:r>
              <a:rPr sz="900" kern="0" spc="-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Bitcoin</a:t>
            </a: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) + V</a:t>
            </a:r>
            <a:r>
              <a:rPr sz="900" kern="0" spc="-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Crash</a:t>
            </a: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) </a:t>
            </a: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≈ </a:t>
            </a: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</a:t>
            </a:r>
            <a:r>
              <a:rPr sz="900" kern="0" spc="-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Panic</a:t>
            </a: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)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3513454" algn="l" rtl="0" eaLnBrk="0">
              <a:lnSpc>
                <a:spcPct val="93000"/>
              </a:lnSpc>
              <a:spcBef>
                <a:spcPts val="4"/>
              </a:spcBef>
              <a:tabLst/>
            </a:pP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figure</a:t>
            </a:r>
            <a:r>
              <a:rPr sz="7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Vector</a:t>
            </a:r>
            <a:r>
              <a:rPr sz="7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Space</a:t>
            </a:r>
            <a:r>
              <a:rPr sz="7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7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Lecture</a:t>
            </a:r>
            <a:r>
              <a:rPr sz="7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8)</a:t>
            </a:r>
            <a:endParaRPr sz="700" dirty="0">
              <a:latin typeface="Arial"/>
              <a:ea typeface="Arial"/>
              <a:cs typeface="Arial"/>
            </a:endParaRPr>
          </a:p>
        </p:txBody>
      </p:sp>
      <p:pic>
        <p:nvPicPr>
          <p:cNvPr id="124" name="picture 1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14528" y="2442872"/>
            <a:ext cx="59601" cy="59601"/>
          </a:xfrm>
          <a:prstGeom prst="rect">
            <a:avLst/>
          </a:prstGeom>
        </p:spPr>
      </p:pic>
      <p:pic>
        <p:nvPicPr>
          <p:cNvPr id="126" name="picture 1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14528" y="2253083"/>
            <a:ext cx="59601" cy="59601"/>
          </a:xfrm>
          <a:prstGeom prst="rect">
            <a:avLst/>
          </a:prstGeom>
        </p:spPr>
      </p:pic>
      <p:pic>
        <p:nvPicPr>
          <p:cNvPr id="128" name="picture 1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14528" y="2063294"/>
            <a:ext cx="59601" cy="59601"/>
          </a:xfrm>
          <a:prstGeom prst="rect">
            <a:avLst/>
          </a:prstGeom>
        </p:spPr>
      </p:pic>
      <p:pic>
        <p:nvPicPr>
          <p:cNvPr id="130" name="picture 13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14528" y="1721677"/>
            <a:ext cx="59601" cy="59601"/>
          </a:xfrm>
          <a:prstGeom prst="rect">
            <a:avLst/>
          </a:prstGeom>
        </p:spPr>
      </p:pic>
      <p:pic>
        <p:nvPicPr>
          <p:cNvPr id="132" name="picture 13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56705" y="994549"/>
            <a:ext cx="59601" cy="59601"/>
          </a:xfrm>
          <a:prstGeom prst="rect">
            <a:avLst/>
          </a:prstGeom>
        </p:spPr>
      </p:pic>
      <p:pic>
        <p:nvPicPr>
          <p:cNvPr id="134" name="picture 13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256705" y="804760"/>
            <a:ext cx="59601" cy="59601"/>
          </a:xfrm>
          <a:prstGeom prst="rect">
            <a:avLst/>
          </a:prstGeom>
        </p:spPr>
      </p:pic>
      <p:pic>
        <p:nvPicPr>
          <p:cNvPr id="136" name="picture 13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3059860" y="1311867"/>
            <a:ext cx="2477718" cy="1393717"/>
          </a:xfrm>
          <a:prstGeom prst="rect">
            <a:avLst/>
          </a:prstGeom>
        </p:spPr>
      </p:pic>
      <p:sp>
        <p:nvSpPr>
          <p:cNvPr id="138" name="textbox 138"/>
          <p:cNvSpPr/>
          <p:nvPr/>
        </p:nvSpPr>
        <p:spPr>
          <a:xfrm>
            <a:off x="0" y="0"/>
            <a:ext cx="5760084" cy="350520"/>
          </a:xfrm>
          <a:prstGeom prst="rect">
            <a:avLst/>
          </a:prstGeom>
          <a:solidFill>
            <a:srgbClr val="C5050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14935" algn="l" rtl="0" eaLnBrk="0">
              <a:lnSpc>
                <a:spcPct val="93000"/>
              </a:lnSpc>
              <a:tabLst/>
            </a:pPr>
            <a:r>
              <a:rPr sz="13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2.2</a:t>
            </a:r>
            <a:r>
              <a:rPr sz="1300" kern="0" spc="1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Word</a:t>
            </a:r>
            <a:r>
              <a:rPr sz="1300" kern="0" spc="2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Embeddings:</a:t>
            </a:r>
            <a:r>
              <a:rPr sz="1300" kern="0" spc="3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Semant</a:t>
            </a:r>
            <a:r>
              <a:rPr sz="13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ics</a:t>
            </a:r>
            <a:r>
              <a:rPr sz="1300" kern="0" spc="1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as</a:t>
            </a:r>
            <a:r>
              <a:rPr sz="1300" kern="0" spc="1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Vectors</a:t>
            </a:r>
            <a:endParaRPr sz="1300" dirty="0">
              <a:latin typeface="Arial"/>
              <a:ea typeface="Arial"/>
              <a:cs typeface="Arial"/>
            </a:endParaRPr>
          </a:p>
        </p:txBody>
      </p:sp>
      <p:grpSp>
        <p:nvGrpSpPr>
          <p:cNvPr id="14" name="group 14"/>
          <p:cNvGrpSpPr/>
          <p:nvPr/>
        </p:nvGrpSpPr>
        <p:grpSpPr>
          <a:xfrm rot="21600000">
            <a:off x="0" y="3148624"/>
            <a:ext cx="5759918" cy="91374"/>
            <a:chOff x="0" y="0"/>
            <a:chExt cx="5759918" cy="91374"/>
          </a:xfrm>
        </p:grpSpPr>
        <p:pic>
          <p:nvPicPr>
            <p:cNvPr id="140" name="picture 14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0" y="0"/>
              <a:ext cx="5759918" cy="91374"/>
            </a:xfrm>
            <a:prstGeom prst="rect">
              <a:avLst/>
            </a:prstGeom>
          </p:spPr>
        </p:pic>
        <p:sp>
          <p:nvSpPr>
            <p:cNvPr id="142" name="textbox 142"/>
            <p:cNvSpPr/>
            <p:nvPr/>
          </p:nvSpPr>
          <p:spPr>
            <a:xfrm>
              <a:off x="-12700" y="-12699"/>
              <a:ext cx="5785484" cy="11683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700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789940" algn="l" rtl="0" eaLnBrk="0">
                <a:lnSpc>
                  <a:spcPts val="641"/>
                </a:lnSpc>
                <a:tabLst/>
              </a:pPr>
              <a:r>
                <a:rPr sz="400" kern="0" spc="50" dirty="0">
                  <a:solidFill>
                    <a:srgbClr val="F2F2F2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(UW-Madison)</a:t>
              </a:r>
              <a:r>
                <a:rPr sz="400" kern="0" spc="0" dirty="0">
                  <a:solidFill>
                    <a:srgbClr val="F2F2F2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                                                                          </a:t>
              </a:r>
              <a:r>
                <a:rPr sz="400" kern="0" spc="5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10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Semantic</a:t>
              </a:r>
              <a:r>
                <a:rPr sz="400" kern="0" spc="14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10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 </a:t>
              </a:r>
              <a:r>
                <a:rPr sz="400" kern="0" spc="5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10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Sentiment</a:t>
              </a:r>
              <a:r>
                <a:rPr sz="400" kern="0" spc="8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10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 </a:t>
              </a:r>
              <a:r>
                <a:rPr sz="400" kern="0" spc="5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10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&amp;</a:t>
              </a:r>
              <a:r>
                <a:rPr sz="400" kern="0" spc="10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10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 </a:t>
              </a:r>
              <a:r>
                <a:rPr sz="400" kern="0" spc="5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10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C</a:t>
              </a:r>
              <a:r>
                <a:rPr sz="400" kern="0" spc="4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10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rypto</a:t>
              </a:r>
              <a:r>
                <a:rPr sz="400" kern="0" spc="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                                                                   </a:t>
              </a:r>
              <a:r>
                <a:rPr sz="400" kern="0" spc="4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December</a:t>
              </a:r>
              <a:r>
                <a:rPr sz="400" kern="0" spc="15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400" kern="0" spc="4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9,</a:t>
              </a:r>
              <a:r>
                <a:rPr sz="400" kern="0" spc="8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400" kern="0" spc="4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2025</a:t>
              </a:r>
              <a:r>
                <a:rPr sz="400" kern="0" spc="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                            </a:t>
              </a:r>
              <a:r>
                <a:rPr sz="400" kern="0" spc="4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7 / 15</a:t>
              </a:r>
              <a:endParaRPr sz="400" dirty="0">
                <a:latin typeface="Arial"/>
                <a:ea typeface="Arial"/>
                <a:cs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box 144"/>
          <p:cNvSpPr/>
          <p:nvPr/>
        </p:nvSpPr>
        <p:spPr>
          <a:xfrm>
            <a:off x="33552" y="1548639"/>
            <a:ext cx="2855595" cy="198754"/>
          </a:xfrm>
          <a:prstGeom prst="rect">
            <a:avLst/>
          </a:prstGeom>
          <a:solidFill>
            <a:srgbClr val="96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91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2705" algn="l" rtl="0" eaLnBrk="0">
              <a:lnSpc>
                <a:spcPct val="91000"/>
              </a:lnSpc>
              <a:tabLst/>
            </a:pPr>
            <a:r>
              <a:rPr sz="11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Why</a:t>
            </a:r>
            <a:r>
              <a:rPr sz="1100" kern="0" spc="2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PCA</a:t>
            </a:r>
            <a:r>
              <a:rPr sz="1100" kern="0" spc="1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in</a:t>
            </a:r>
            <a:r>
              <a:rPr sz="1100" kern="0" spc="1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this</a:t>
            </a:r>
            <a:r>
              <a:rPr sz="1100" kern="0" spc="1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project?</a:t>
            </a:r>
            <a:endParaRPr sz="1100" dirty="0">
              <a:latin typeface="Arial"/>
              <a:ea typeface="Arial"/>
              <a:cs typeface="Arial"/>
            </a:endParaRPr>
          </a:p>
        </p:txBody>
      </p:sp>
      <p:pic>
        <p:nvPicPr>
          <p:cNvPr id="146" name="picture 1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3552" y="1744473"/>
            <a:ext cx="2863221" cy="40487"/>
          </a:xfrm>
          <a:prstGeom prst="rect">
            <a:avLst/>
          </a:prstGeom>
        </p:spPr>
      </p:pic>
      <p:pic>
        <p:nvPicPr>
          <p:cNvPr id="148" name="picture 1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3552" y="1605559"/>
            <a:ext cx="2905911" cy="1246062"/>
          </a:xfrm>
          <a:prstGeom prst="rect">
            <a:avLst/>
          </a:prstGeom>
        </p:spPr>
      </p:pic>
      <p:sp>
        <p:nvSpPr>
          <p:cNvPr id="150" name="textbox 150"/>
          <p:cNvSpPr/>
          <p:nvPr/>
        </p:nvSpPr>
        <p:spPr>
          <a:xfrm>
            <a:off x="125343" y="543625"/>
            <a:ext cx="5502909" cy="657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54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Recap</a:t>
            </a:r>
            <a:r>
              <a:rPr sz="900" b="1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:</a:t>
            </a:r>
            <a:endParaRPr sz="900" dirty="0">
              <a:latin typeface="Arial"/>
              <a:ea typeface="Arial"/>
              <a:cs typeface="Arial"/>
            </a:endParaRPr>
          </a:p>
          <a:p>
            <a:pPr marL="190500" algn="l" rtl="0" eaLnBrk="0">
              <a:lnSpc>
                <a:spcPct val="93000"/>
              </a:lnSpc>
              <a:spcBef>
                <a:spcPts val="490"/>
              </a:spcBef>
              <a:tabLst>
                <a:tab pos="261620" algn="l"/>
              </a:tabLst>
            </a:pP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Goal</a:t>
            </a:r>
            <a:r>
              <a:rPr sz="900" b="1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: 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Dimensionality</a:t>
            </a:r>
            <a:r>
              <a:rPr sz="900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Reduction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9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257175" indent="-66675" algn="l" rtl="0" eaLnBrk="0">
              <a:lnSpc>
                <a:spcPct val="98000"/>
              </a:lnSpc>
              <a:spcBef>
                <a:spcPts val="1"/>
              </a:spcBef>
              <a:tabLst>
                <a:tab pos="265429" algn="l"/>
              </a:tabLst>
            </a:pP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	</a:t>
            </a:r>
            <a:r>
              <a:rPr sz="900" b="1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Method: 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Find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”Principal</a:t>
            </a:r>
            <a:r>
              <a:rPr sz="9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Components”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(Eigenvectors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of t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he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covariance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matrix)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that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maximize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Variance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152" name="picture 15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56705" y="972464"/>
            <a:ext cx="59601" cy="59601"/>
          </a:xfrm>
          <a:prstGeom prst="rect">
            <a:avLst/>
          </a:prstGeom>
        </p:spPr>
      </p:pic>
      <p:pic>
        <p:nvPicPr>
          <p:cNvPr id="154" name="picture 15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56705" y="782675"/>
            <a:ext cx="59601" cy="59601"/>
          </a:xfrm>
          <a:prstGeom prst="rect">
            <a:avLst/>
          </a:prstGeom>
        </p:spPr>
      </p:pic>
      <p:pic>
        <p:nvPicPr>
          <p:cNvPr id="156" name="picture 15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3059860" y="1345003"/>
            <a:ext cx="2477718" cy="1393717"/>
          </a:xfrm>
          <a:prstGeom prst="rect">
            <a:avLst/>
          </a:prstGeom>
        </p:spPr>
      </p:pic>
      <p:pic>
        <p:nvPicPr>
          <p:cNvPr id="158" name="picture 15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65747" y="2149645"/>
            <a:ext cx="104301" cy="104301"/>
          </a:xfrm>
          <a:prstGeom prst="rect">
            <a:avLst/>
          </a:prstGeom>
        </p:spPr>
      </p:pic>
      <p:pic>
        <p:nvPicPr>
          <p:cNvPr id="160" name="picture 16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65747" y="2491262"/>
            <a:ext cx="104301" cy="104301"/>
          </a:xfrm>
          <a:prstGeom prst="rect">
            <a:avLst/>
          </a:prstGeom>
        </p:spPr>
      </p:pic>
      <p:pic>
        <p:nvPicPr>
          <p:cNvPr id="162" name="picture 16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165747" y="1808028"/>
            <a:ext cx="104301" cy="104301"/>
          </a:xfrm>
          <a:prstGeom prst="rect">
            <a:avLst/>
          </a:prstGeom>
        </p:spPr>
      </p:pic>
      <p:sp>
        <p:nvSpPr>
          <p:cNvPr id="164" name="textbox 164"/>
          <p:cNvSpPr/>
          <p:nvPr/>
        </p:nvSpPr>
        <p:spPr>
          <a:xfrm>
            <a:off x="191187" y="1785332"/>
            <a:ext cx="2657475" cy="9956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54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95000"/>
              </a:lnSpc>
              <a:tabLst/>
            </a:pPr>
            <a:r>
              <a:rPr sz="700" kern="0" spc="0" baseline="22323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Input: 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FinBERT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gives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us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768-dimension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al</a:t>
            </a:r>
            <a:endParaRPr sz="9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3000"/>
              </a:lnSpc>
              <a:spcBef>
                <a:spcPts val="191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vector</a:t>
            </a:r>
            <a:r>
              <a:rPr sz="9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for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each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day.  Most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dimensions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are</a:t>
            </a:r>
            <a:r>
              <a:rPr sz="9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noise.</a:t>
            </a:r>
            <a:endParaRPr sz="900" dirty="0">
              <a:latin typeface="Arial"/>
              <a:ea typeface="Arial"/>
              <a:cs typeface="Arial"/>
            </a:endParaRPr>
          </a:p>
          <a:p>
            <a:pPr marL="147954" indent="-135889" algn="l" rtl="0" eaLnBrk="0">
              <a:lnSpc>
                <a:spcPct val="104000"/>
              </a:lnSpc>
              <a:spcBef>
                <a:spcPts val="470"/>
              </a:spcBef>
              <a:tabLst/>
            </a:pPr>
            <a:r>
              <a:rPr sz="700" kern="0" spc="30" baseline="22323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4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Projection</a:t>
            </a:r>
            <a:r>
              <a:rPr sz="900" b="1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: 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We</a:t>
            </a:r>
            <a:r>
              <a:rPr sz="900" kern="0" spc="2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project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this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768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cloud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onto   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9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1st</a:t>
            </a:r>
            <a:r>
              <a:rPr sz="900" b="1" kern="0" spc="2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Principal</a:t>
            </a:r>
            <a:r>
              <a:rPr sz="900" b="1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</a:t>
            </a:r>
            <a:r>
              <a:rPr sz="900" b="1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mponent</a:t>
            </a:r>
            <a:r>
              <a:rPr sz="900" b="1" kern="0" spc="2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(PC1)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50495" indent="-137795" algn="l" rtl="0" eaLnBrk="0">
              <a:lnSpc>
                <a:spcPct val="104000"/>
              </a:lnSpc>
              <a:spcBef>
                <a:spcPts val="1"/>
              </a:spcBef>
              <a:tabLst/>
            </a:pPr>
            <a:r>
              <a:rPr sz="700" kern="0" spc="40" baseline="22323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400" kern="0" spc="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Result</a:t>
            </a:r>
            <a:r>
              <a:rPr sz="900" b="1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: 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9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single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clean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”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Sentiment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Index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”</a:t>
            </a: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that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captures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dominant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market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trend.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166" name="textbox 166"/>
          <p:cNvSpPr/>
          <p:nvPr/>
        </p:nvSpPr>
        <p:spPr>
          <a:xfrm>
            <a:off x="0" y="0"/>
            <a:ext cx="5760084" cy="350520"/>
          </a:xfrm>
          <a:prstGeom prst="rect">
            <a:avLst/>
          </a:prstGeom>
          <a:solidFill>
            <a:srgbClr val="C5050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14935" algn="l" rtl="0" eaLnBrk="0">
              <a:lnSpc>
                <a:spcPct val="86000"/>
              </a:lnSpc>
              <a:spcBef>
                <a:spcPts val="6"/>
              </a:spcBef>
              <a:tabLst/>
            </a:pPr>
            <a:r>
              <a:rPr sz="1400" kern="0" spc="-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2.3</a:t>
            </a:r>
            <a:r>
              <a:rPr sz="1400" kern="0" spc="2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PCA:</a:t>
            </a:r>
            <a:r>
              <a:rPr sz="1400" kern="0" spc="1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Signal</a:t>
            </a:r>
            <a:r>
              <a:rPr sz="1400" kern="0" spc="2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Extraction</a:t>
            </a:r>
            <a:r>
              <a:rPr sz="1400" kern="0" spc="1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from</a:t>
            </a:r>
            <a:r>
              <a:rPr sz="1400" kern="0" spc="2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Noise</a:t>
            </a:r>
            <a:endParaRPr sz="1400" dirty="0">
              <a:latin typeface="Arial"/>
              <a:ea typeface="Arial"/>
              <a:cs typeface="Arial"/>
            </a:endParaRPr>
          </a:p>
        </p:txBody>
      </p:sp>
      <p:grpSp>
        <p:nvGrpSpPr>
          <p:cNvPr id="16" name="group 16"/>
          <p:cNvGrpSpPr/>
          <p:nvPr/>
        </p:nvGrpSpPr>
        <p:grpSpPr>
          <a:xfrm rot="21600000">
            <a:off x="0" y="3148625"/>
            <a:ext cx="5759918" cy="91372"/>
            <a:chOff x="0" y="0"/>
            <a:chExt cx="5759918" cy="91372"/>
          </a:xfrm>
        </p:grpSpPr>
        <p:pic>
          <p:nvPicPr>
            <p:cNvPr id="168" name="picture 168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21600000">
              <a:off x="0" y="0"/>
              <a:ext cx="5759918" cy="91372"/>
            </a:xfrm>
            <a:prstGeom prst="rect">
              <a:avLst/>
            </a:prstGeom>
          </p:spPr>
        </p:pic>
        <p:sp>
          <p:nvSpPr>
            <p:cNvPr id="170" name="textbox 170"/>
            <p:cNvSpPr/>
            <p:nvPr/>
          </p:nvSpPr>
          <p:spPr>
            <a:xfrm>
              <a:off x="-12700" y="-12699"/>
              <a:ext cx="5785484" cy="11683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700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789940" algn="l" rtl="0" eaLnBrk="0">
                <a:lnSpc>
                  <a:spcPts val="641"/>
                </a:lnSpc>
                <a:tabLst/>
              </a:pPr>
              <a:r>
                <a:rPr sz="400" kern="0" spc="50" dirty="0">
                  <a:solidFill>
                    <a:srgbClr val="F2F2F2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(UW-Madison)</a:t>
              </a:r>
              <a:r>
                <a:rPr sz="400" kern="0" spc="0" dirty="0">
                  <a:solidFill>
                    <a:srgbClr val="F2F2F2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                                                                          </a:t>
              </a:r>
              <a:r>
                <a:rPr sz="400" kern="0" spc="5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11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Semantic</a:t>
              </a:r>
              <a:r>
                <a:rPr sz="400" kern="0" spc="14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11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 </a:t>
              </a:r>
              <a:r>
                <a:rPr sz="400" kern="0" spc="5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11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Sentiment</a:t>
              </a:r>
              <a:r>
                <a:rPr sz="400" kern="0" spc="8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11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 </a:t>
              </a:r>
              <a:r>
                <a:rPr sz="400" kern="0" spc="5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11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&amp;</a:t>
              </a:r>
              <a:r>
                <a:rPr sz="400" kern="0" spc="10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11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 </a:t>
              </a:r>
              <a:r>
                <a:rPr sz="400" kern="0" spc="5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11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C</a:t>
              </a:r>
              <a:r>
                <a:rPr sz="400" kern="0" spc="4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11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rypto</a:t>
              </a:r>
              <a:r>
                <a:rPr sz="400" kern="0" spc="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                                                                   </a:t>
              </a:r>
              <a:r>
                <a:rPr sz="400" kern="0" spc="4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December</a:t>
              </a:r>
              <a:r>
                <a:rPr sz="400" kern="0" spc="15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400" kern="0" spc="4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9,</a:t>
              </a:r>
              <a:r>
                <a:rPr sz="400" kern="0" spc="8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400" kern="0" spc="4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2025</a:t>
              </a:r>
              <a:r>
                <a:rPr sz="400" kern="0" spc="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                            </a:t>
              </a:r>
              <a:r>
                <a:rPr sz="400" kern="0" spc="4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8 / 15</a:t>
              </a:r>
              <a:endParaRPr sz="4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172" name="textbox 172"/>
          <p:cNvSpPr/>
          <p:nvPr/>
        </p:nvSpPr>
        <p:spPr>
          <a:xfrm>
            <a:off x="3404640" y="2781816"/>
            <a:ext cx="1790700" cy="153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10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figure</a:t>
            </a:r>
            <a:r>
              <a:rPr sz="7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Maximizing</a:t>
            </a:r>
            <a:r>
              <a:rPr sz="7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</a:t>
            </a:r>
            <a:r>
              <a:rPr sz="7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ariance</a:t>
            </a:r>
            <a:r>
              <a:rPr sz="7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(Lecture</a:t>
            </a:r>
            <a:r>
              <a:rPr sz="7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5)</a:t>
            </a:r>
            <a:endParaRPr sz="7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" name="table 174"/>
          <p:cNvGraphicFramePr>
            <a:graphicFrameLocks noGrp="1"/>
          </p:cNvGraphicFramePr>
          <p:nvPr/>
        </p:nvGraphicFramePr>
        <p:xfrm>
          <a:off x="75729" y="1661552"/>
          <a:ext cx="5659120" cy="493393"/>
        </p:xfrm>
        <a:graphic>
          <a:graphicData uri="http://schemas.openxmlformats.org/drawingml/2006/table">
            <a:tbl>
              <a:tblPr/>
              <a:tblGrid>
                <a:gridCol w="5659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240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7150" algn="l" rtl="0" eaLnBrk="0">
                        <a:lnSpc>
                          <a:spcPct val="91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Stage</a:t>
                      </a:r>
                      <a:r>
                        <a:rPr sz="1100" kern="0" spc="1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1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2:  Distill</a:t>
                      </a:r>
                      <a:r>
                        <a:rPr sz="11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ation</a:t>
                      </a:r>
                      <a:r>
                        <a:rPr sz="1100" kern="0" spc="1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1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(Unsupervised</a:t>
                      </a:r>
                      <a:r>
                        <a:rPr sz="1100" kern="0" spc="19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1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Learning)</a:t>
                      </a:r>
                      <a:endParaRPr sz="11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96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96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98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4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4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F4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76" name="picture 17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5729" y="1080565"/>
            <a:ext cx="5659421" cy="479870"/>
          </a:xfrm>
          <a:prstGeom prst="rect">
            <a:avLst/>
          </a:prstGeom>
        </p:spPr>
      </p:pic>
      <p:pic>
        <p:nvPicPr>
          <p:cNvPr id="178" name="picture 17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5729" y="2256611"/>
            <a:ext cx="5659421" cy="479858"/>
          </a:xfrm>
          <a:prstGeom prst="rect">
            <a:avLst/>
          </a:prstGeom>
        </p:spPr>
      </p:pic>
      <p:sp>
        <p:nvSpPr>
          <p:cNvPr id="180" name="textbox 180"/>
          <p:cNvSpPr/>
          <p:nvPr/>
        </p:nvSpPr>
        <p:spPr>
          <a:xfrm>
            <a:off x="0" y="0"/>
            <a:ext cx="5760084" cy="350520"/>
          </a:xfrm>
          <a:prstGeom prst="rect">
            <a:avLst/>
          </a:prstGeom>
          <a:solidFill>
            <a:srgbClr val="C5050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14935" algn="l" rtl="0" eaLnBrk="0">
              <a:lnSpc>
                <a:spcPct val="86000"/>
              </a:lnSpc>
              <a:spcBef>
                <a:spcPts val="6"/>
              </a:spcBef>
              <a:tabLst/>
            </a:pPr>
            <a:r>
              <a:rPr sz="1400" kern="0" spc="-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3.  Methodology:</a:t>
            </a:r>
            <a:r>
              <a:rPr sz="1400" kern="0" spc="3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1400" kern="0" spc="2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Pipeline</a:t>
            </a:r>
            <a:endParaRPr sz="1400" dirty="0">
              <a:latin typeface="Arial"/>
              <a:ea typeface="Arial"/>
              <a:cs typeface="Arial"/>
            </a:endParaRPr>
          </a:p>
        </p:txBody>
      </p:sp>
      <p:sp>
        <p:nvSpPr>
          <p:cNvPr id="182" name="textbox 182"/>
          <p:cNvSpPr/>
          <p:nvPr/>
        </p:nvSpPr>
        <p:spPr>
          <a:xfrm>
            <a:off x="75729" y="1293278"/>
            <a:ext cx="5608954" cy="216534"/>
          </a:xfrm>
          <a:prstGeom prst="rect">
            <a:avLst/>
          </a:prstGeom>
          <a:solidFill>
            <a:srgbClr val="F4E6E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62864" algn="l" rtl="0" eaLnBrk="0">
              <a:lnSpc>
                <a:spcPct val="93000"/>
              </a:lnSpc>
              <a:spcBef>
                <a:spcPts val="2"/>
              </a:spcBef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Raw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Tweets</a:t>
            </a:r>
            <a:r>
              <a:rPr sz="9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→</a:t>
            </a:r>
            <a:r>
              <a:rPr sz="900" kern="0" spc="2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FinBERT</a:t>
            </a:r>
            <a:r>
              <a:rPr sz="900" b="1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→</a:t>
            </a:r>
            <a:r>
              <a:rPr sz="900" kern="0" spc="1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768-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dim</a:t>
            </a:r>
            <a:r>
              <a:rPr sz="900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Embeddings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grpSp>
        <p:nvGrpSpPr>
          <p:cNvPr id="18" name="group 18"/>
          <p:cNvGrpSpPr/>
          <p:nvPr/>
        </p:nvGrpSpPr>
        <p:grpSpPr>
          <a:xfrm rot="21600000">
            <a:off x="75729" y="2469311"/>
            <a:ext cx="5608620" cy="216357"/>
            <a:chOff x="0" y="0"/>
            <a:chExt cx="5608620" cy="216357"/>
          </a:xfrm>
        </p:grpSpPr>
        <p:pic>
          <p:nvPicPr>
            <p:cNvPr id="184" name="picture 18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5608620" cy="216357"/>
            </a:xfrm>
            <a:prstGeom prst="rect">
              <a:avLst/>
            </a:prstGeom>
          </p:spPr>
        </p:pic>
        <p:sp>
          <p:nvSpPr>
            <p:cNvPr id="186" name="textbox 186"/>
            <p:cNvSpPr/>
            <p:nvPr/>
          </p:nvSpPr>
          <p:spPr>
            <a:xfrm>
              <a:off x="-12700" y="-12700"/>
              <a:ext cx="5634354" cy="2419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marL="74930" algn="l" rtl="0" eaLnBrk="0">
                <a:lnSpc>
                  <a:spcPct val="95000"/>
                </a:lnSpc>
                <a:spcBef>
                  <a:spcPts val="3"/>
                </a:spcBef>
                <a:tabLst/>
              </a:pP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Lagged</a:t>
              </a:r>
              <a:r>
                <a:rPr sz="900" kern="0" spc="12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Signal</a:t>
              </a:r>
              <a:r>
                <a:rPr sz="900" kern="0" spc="14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→</a:t>
              </a:r>
              <a:r>
                <a:rPr sz="900" kern="0" spc="1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900" b="1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OLS</a:t>
              </a:r>
              <a:r>
                <a:rPr sz="900" b="1" kern="0" spc="2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b="1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Regre</a:t>
              </a:r>
              <a:r>
                <a:rPr sz="900" b="1" kern="0" spc="-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ssion</a:t>
              </a:r>
              <a:r>
                <a:rPr sz="900" b="1" kern="0" spc="14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→</a:t>
              </a:r>
              <a:r>
                <a:rPr sz="900" kern="0" spc="2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900" kern="0" spc="-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Price</a:t>
              </a:r>
              <a:r>
                <a:rPr sz="900" kern="0" spc="17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-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Prediction</a:t>
              </a:r>
              <a:endParaRPr sz="9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188" name="textbox 188"/>
          <p:cNvSpPr/>
          <p:nvPr/>
        </p:nvSpPr>
        <p:spPr>
          <a:xfrm>
            <a:off x="75729" y="1908422"/>
            <a:ext cx="5608954" cy="196850"/>
          </a:xfrm>
          <a:prstGeom prst="rect">
            <a:avLst/>
          </a:prstGeom>
          <a:solidFill>
            <a:srgbClr val="F4E6E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1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2230" algn="l" rtl="0" eaLnBrk="0">
              <a:lnSpc>
                <a:spcPct val="95000"/>
              </a:lnSpc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Embeddings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→</a:t>
            </a:r>
            <a:r>
              <a:rPr sz="900" kern="0" spc="2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PCA</a:t>
            </a:r>
            <a:r>
              <a:rPr sz="900" b="1" kern="0" spc="2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Principal</a:t>
            </a:r>
            <a:r>
              <a:rPr sz="900" b="1" kern="0" spc="1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Component</a:t>
            </a:r>
            <a:r>
              <a:rPr sz="900" b="1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Analysis</a:t>
            </a:r>
            <a:r>
              <a:rPr sz="900" b="1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)</a:t>
            </a:r>
            <a:r>
              <a:rPr sz="900" b="1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→</a:t>
            </a:r>
            <a:r>
              <a:rPr sz="900" kern="0" spc="2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PC</a:t>
            </a: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Trend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grpSp>
        <p:nvGrpSpPr>
          <p:cNvPr id="20" name="group 20"/>
          <p:cNvGrpSpPr/>
          <p:nvPr/>
        </p:nvGrpSpPr>
        <p:grpSpPr>
          <a:xfrm rot="21600000">
            <a:off x="0" y="3148621"/>
            <a:ext cx="5759919" cy="91376"/>
            <a:chOff x="0" y="0"/>
            <a:chExt cx="5759919" cy="91376"/>
          </a:xfrm>
        </p:grpSpPr>
        <p:pic>
          <p:nvPicPr>
            <p:cNvPr id="190" name="picture 19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5759919" cy="91376"/>
            </a:xfrm>
            <a:prstGeom prst="rect">
              <a:avLst/>
            </a:prstGeom>
          </p:spPr>
        </p:pic>
        <p:sp>
          <p:nvSpPr>
            <p:cNvPr id="192" name="textbox 192"/>
            <p:cNvSpPr/>
            <p:nvPr/>
          </p:nvSpPr>
          <p:spPr>
            <a:xfrm>
              <a:off x="-12700" y="-12699"/>
              <a:ext cx="5785484" cy="11683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700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789940" algn="l" rtl="0" eaLnBrk="0">
                <a:lnSpc>
                  <a:spcPts val="641"/>
                </a:lnSpc>
                <a:tabLst/>
              </a:pPr>
              <a:r>
                <a:rPr sz="400" kern="0" spc="50" dirty="0">
                  <a:solidFill>
                    <a:srgbClr val="F2F2F2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(UW-Madison)</a:t>
              </a:r>
              <a:r>
                <a:rPr sz="400" kern="0" spc="0" dirty="0">
                  <a:solidFill>
                    <a:srgbClr val="F2F2F2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                                                                          </a:t>
              </a:r>
              <a:r>
                <a:rPr sz="400" kern="0" spc="5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6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Semantic</a:t>
              </a:r>
              <a:r>
                <a:rPr sz="400" kern="0" spc="14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6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 </a:t>
              </a:r>
              <a:r>
                <a:rPr sz="400" kern="0" spc="5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6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Sentiment</a:t>
              </a:r>
              <a:r>
                <a:rPr sz="400" kern="0" spc="8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6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 </a:t>
              </a:r>
              <a:r>
                <a:rPr sz="400" kern="0" spc="5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6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&amp;</a:t>
              </a:r>
              <a:r>
                <a:rPr sz="400" kern="0" spc="10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6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 </a:t>
              </a:r>
              <a:r>
                <a:rPr sz="400" kern="0" spc="5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6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C</a:t>
              </a:r>
              <a:r>
                <a:rPr sz="400" kern="0" spc="4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6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rypto</a:t>
              </a:r>
              <a:r>
                <a:rPr sz="400" kern="0" spc="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                                                                   </a:t>
              </a:r>
              <a:r>
                <a:rPr sz="400" kern="0" spc="4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December</a:t>
              </a:r>
              <a:r>
                <a:rPr sz="400" kern="0" spc="15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400" kern="0" spc="4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9,</a:t>
              </a:r>
              <a:r>
                <a:rPr sz="400" kern="0" spc="8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400" kern="0" spc="4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2025</a:t>
              </a:r>
              <a:r>
                <a:rPr sz="400" kern="0" spc="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                            </a:t>
              </a:r>
              <a:r>
                <a:rPr sz="400" kern="0" spc="4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9 / 15</a:t>
              </a:r>
              <a:endParaRPr sz="4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194" name="textbox 194"/>
          <p:cNvSpPr/>
          <p:nvPr/>
        </p:nvSpPr>
        <p:spPr>
          <a:xfrm>
            <a:off x="115601" y="665967"/>
            <a:ext cx="2838450" cy="153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10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We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constructed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end-to-end</a:t>
            </a:r>
            <a:r>
              <a:rPr sz="900" kern="0" spc="1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Data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Science</a:t>
            </a:r>
            <a:r>
              <a:rPr sz="900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pipeline: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196" name="textbox 196"/>
          <p:cNvSpPr/>
          <p:nvPr/>
        </p:nvSpPr>
        <p:spPr>
          <a:xfrm>
            <a:off x="120510" y="1104758"/>
            <a:ext cx="2289175" cy="1790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66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/>
            </a:pPr>
            <a:r>
              <a:rPr sz="11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Stage</a:t>
            </a:r>
            <a:r>
              <a:rPr sz="1100" kern="0" spc="2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1:  Extraction</a:t>
            </a:r>
            <a:r>
              <a:rPr sz="1100" kern="0" spc="1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(Deep</a:t>
            </a:r>
            <a:r>
              <a:rPr sz="1100" kern="0" spc="1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Learning)</a:t>
            </a:r>
            <a:endParaRPr sz="1100" dirty="0">
              <a:latin typeface="Arial"/>
              <a:ea typeface="Arial"/>
              <a:cs typeface="Arial"/>
            </a:endParaRPr>
          </a:p>
        </p:txBody>
      </p:sp>
      <p:sp>
        <p:nvSpPr>
          <p:cNvPr id="198" name="textbox 198"/>
          <p:cNvSpPr/>
          <p:nvPr/>
        </p:nvSpPr>
        <p:spPr>
          <a:xfrm>
            <a:off x="120510" y="2280792"/>
            <a:ext cx="2208529" cy="1790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6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/>
            </a:pPr>
            <a:r>
              <a:rPr sz="11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Stage</a:t>
            </a:r>
            <a:r>
              <a:rPr sz="1100" kern="0" spc="1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3:</a:t>
            </a:r>
            <a:r>
              <a:rPr sz="1100" kern="0" spc="2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Validation</a:t>
            </a:r>
            <a:r>
              <a:rPr sz="1100" kern="0" spc="1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(Econometri</a:t>
            </a:r>
            <a:r>
              <a:rPr sz="11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cs)</a:t>
            </a:r>
            <a:endParaRPr sz="11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extbox 200"/>
          <p:cNvSpPr/>
          <p:nvPr/>
        </p:nvSpPr>
        <p:spPr>
          <a:xfrm>
            <a:off x="244005" y="1995667"/>
            <a:ext cx="5397500" cy="5353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54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71755" algn="l" rtl="0" eaLnBrk="0">
              <a:lnSpc>
                <a:spcPct val="95000"/>
              </a:lnSpc>
              <a:tabLst>
                <a:tab pos="141604" algn="l"/>
              </a:tabLst>
            </a:pP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Short</a:t>
            </a:r>
            <a:r>
              <a:rPr sz="900" b="1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term</a:t>
            </a:r>
            <a:r>
              <a:rPr sz="900" b="1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: 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News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events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create</a:t>
            </a:r>
            <a:r>
              <a:rPr sz="9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instant</a:t>
            </a:r>
            <a:r>
              <a:rPr sz="900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noise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Lead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≈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0).</a:t>
            </a:r>
            <a:endParaRPr sz="900" dirty="0">
              <a:latin typeface="Arial"/>
              <a:ea typeface="Arial"/>
              <a:cs typeface="Arial"/>
            </a:endParaRPr>
          </a:p>
          <a:p>
            <a:pPr marL="71755" algn="l" rtl="0" eaLnBrk="0">
              <a:lnSpc>
                <a:spcPct val="95000"/>
              </a:lnSpc>
              <a:spcBef>
                <a:spcPts val="468"/>
              </a:spcBef>
              <a:tabLst>
                <a:tab pos="146685" algn="l"/>
              </a:tabLst>
            </a:pP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b="1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Long-term:</a:t>
            </a:r>
            <a:r>
              <a:rPr sz="900" b="1" kern="0" spc="2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Sentiment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accu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mulation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reflects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”Bubble</a:t>
            </a:r>
            <a:r>
              <a:rPr sz="900" b="1" kern="0" spc="1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Cycle”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0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71755" algn="l" rtl="0" eaLnBrk="0">
              <a:lnSpc>
                <a:spcPct val="95000"/>
              </a:lnSpc>
              <a:spcBef>
                <a:spcPts val="1"/>
              </a:spcBef>
              <a:tabLst>
                <a:tab pos="140335" algn="l"/>
              </a:tabLst>
            </a:pP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The</a:t>
            </a:r>
            <a:r>
              <a:rPr sz="900" b="1" kern="0" spc="2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29-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Day</a:t>
            </a:r>
            <a:r>
              <a:rPr sz="900" b="1" kern="0" spc="1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Lag</a:t>
            </a:r>
            <a:r>
              <a:rPr sz="900" b="1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: 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Represents</a:t>
            </a: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time</a:t>
            </a: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gap</a:t>
            </a:r>
            <a:r>
              <a:rPr sz="9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between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Peak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Retail</a:t>
            </a: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Euphoria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9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Institutional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Sell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off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202" name="picture 2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56705" y="2424506"/>
            <a:ext cx="59601" cy="59601"/>
          </a:xfrm>
          <a:prstGeom prst="rect">
            <a:avLst/>
          </a:prstGeom>
        </p:spPr>
      </p:pic>
      <p:pic>
        <p:nvPicPr>
          <p:cNvPr id="204" name="picture 20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56705" y="2234717"/>
            <a:ext cx="59601" cy="59601"/>
          </a:xfrm>
          <a:prstGeom prst="rect">
            <a:avLst/>
          </a:prstGeom>
        </p:spPr>
      </p:pic>
      <p:pic>
        <p:nvPicPr>
          <p:cNvPr id="206" name="picture 20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56705" y="2044928"/>
            <a:ext cx="59601" cy="59601"/>
          </a:xfrm>
          <a:prstGeom prst="rect">
            <a:avLst/>
          </a:prstGeom>
        </p:spPr>
      </p:pic>
      <p:pic>
        <p:nvPicPr>
          <p:cNvPr id="208" name="picture 20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89832" y="1116701"/>
            <a:ext cx="4980391" cy="512565"/>
          </a:xfrm>
          <a:prstGeom prst="rect">
            <a:avLst/>
          </a:prstGeom>
        </p:spPr>
      </p:pic>
      <p:sp>
        <p:nvSpPr>
          <p:cNvPr id="210" name="textbox 210"/>
          <p:cNvSpPr/>
          <p:nvPr/>
        </p:nvSpPr>
        <p:spPr>
          <a:xfrm>
            <a:off x="0" y="0"/>
            <a:ext cx="5760084" cy="350520"/>
          </a:xfrm>
          <a:prstGeom prst="rect">
            <a:avLst/>
          </a:prstGeom>
          <a:solidFill>
            <a:srgbClr val="C5050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12395" algn="l" rtl="0" eaLnBrk="0">
              <a:lnSpc>
                <a:spcPct val="86000"/>
              </a:lnSpc>
              <a:spcBef>
                <a:spcPts val="6"/>
              </a:spcBef>
              <a:tabLst/>
            </a:pPr>
            <a:r>
              <a:rPr sz="1400" kern="0" spc="-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4.1</a:t>
            </a:r>
            <a:r>
              <a:rPr sz="1400" kern="0" spc="2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Mechanism:  How</a:t>
            </a:r>
            <a:r>
              <a:rPr sz="1400" kern="0" spc="1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Sentiment</a:t>
            </a:r>
            <a:r>
              <a:rPr sz="1400" kern="0" spc="1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Transmits</a:t>
            </a:r>
            <a:r>
              <a:rPr sz="1400" kern="0" spc="1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to</a:t>
            </a:r>
            <a:r>
              <a:rPr sz="1400" kern="0" spc="2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Price</a:t>
            </a:r>
            <a:endParaRPr sz="1400" dirty="0">
              <a:latin typeface="Arial"/>
              <a:ea typeface="Arial"/>
              <a:cs typeface="Arial"/>
            </a:endParaRPr>
          </a:p>
        </p:txBody>
      </p:sp>
      <p:sp>
        <p:nvSpPr>
          <p:cNvPr id="212" name="textbox 212"/>
          <p:cNvSpPr/>
          <p:nvPr/>
        </p:nvSpPr>
        <p:spPr>
          <a:xfrm>
            <a:off x="2633117" y="1140541"/>
            <a:ext cx="1872614" cy="457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99"/>
              </a:lnSpc>
              <a:tabLst/>
            </a:pPr>
            <a:r>
              <a:rPr sz="1200" kern="0" spc="-30" baseline="-7214" dirty="0">
                <a:solidFill>
                  <a:srgbClr val="96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Lag</a:t>
            </a:r>
            <a:r>
              <a:rPr sz="700" kern="0" spc="200" dirty="0">
                <a:solidFill>
                  <a:srgbClr val="96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-30" baseline="-7214" dirty="0">
                <a:solidFill>
                  <a:srgbClr val="96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Period</a:t>
            </a:r>
            <a:r>
              <a:rPr sz="1500" kern="0" spc="-30" baseline="22008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3.</a:t>
            </a: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500" kern="0" spc="-30" baseline="22008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Smart</a:t>
            </a: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500" kern="0" spc="-30" baseline="22008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Money</a:t>
            </a:r>
            <a:r>
              <a:rPr sz="1200" kern="0" spc="-30" baseline="-20236" dirty="0">
                <a:solidFill>
                  <a:srgbClr val="96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Price</a:t>
            </a:r>
            <a:r>
              <a:rPr sz="700" kern="0" spc="100" dirty="0">
                <a:solidFill>
                  <a:srgbClr val="96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-30" baseline="-20236" dirty="0">
                <a:solidFill>
                  <a:srgbClr val="96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Action</a:t>
            </a:r>
            <a:endParaRPr sz="1200" baseline="-20236" dirty="0">
              <a:latin typeface="Arial"/>
              <a:ea typeface="Arial"/>
              <a:cs typeface="Arial"/>
            </a:endParaRPr>
          </a:p>
          <a:p>
            <a:pPr marL="693419" algn="l" rtl="0" eaLnBrk="0">
              <a:lnSpc>
                <a:spcPct val="83000"/>
              </a:lnSpc>
              <a:spcBef>
                <a:spcPts val="9"/>
              </a:spcBef>
              <a:tabLst/>
            </a:pP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Exit</a:t>
            </a:r>
            <a:r>
              <a:rPr sz="900" kern="0" spc="1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(Di-</a:t>
            </a:r>
            <a:endParaRPr sz="900" dirty="0">
              <a:latin typeface="Arial"/>
              <a:ea typeface="Arial"/>
              <a:cs typeface="Arial"/>
            </a:endParaRPr>
          </a:p>
          <a:p>
            <a:pPr marL="663575" algn="l" rtl="0" eaLnBrk="0">
              <a:lnSpc>
                <a:spcPct val="93000"/>
              </a:lnSpc>
              <a:spcBef>
                <a:spcPts val="188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vergence)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grpSp>
        <p:nvGrpSpPr>
          <p:cNvPr id="22" name="group 22"/>
          <p:cNvGrpSpPr/>
          <p:nvPr/>
        </p:nvGrpSpPr>
        <p:grpSpPr>
          <a:xfrm rot="21600000">
            <a:off x="0" y="3148621"/>
            <a:ext cx="5759919" cy="91376"/>
            <a:chOff x="0" y="0"/>
            <a:chExt cx="5759919" cy="91376"/>
          </a:xfrm>
        </p:grpSpPr>
        <p:pic>
          <p:nvPicPr>
            <p:cNvPr id="214" name="picture 21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0" y="0"/>
              <a:ext cx="5759919" cy="91376"/>
            </a:xfrm>
            <a:prstGeom prst="rect">
              <a:avLst/>
            </a:prstGeom>
          </p:spPr>
        </p:pic>
        <p:sp>
          <p:nvSpPr>
            <p:cNvPr id="216" name="textbox 216"/>
            <p:cNvSpPr/>
            <p:nvPr/>
          </p:nvSpPr>
          <p:spPr>
            <a:xfrm>
              <a:off x="-12700" y="-12699"/>
              <a:ext cx="5785484" cy="11683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700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789940" algn="l" rtl="0" eaLnBrk="0">
                <a:lnSpc>
                  <a:spcPts val="641"/>
                </a:lnSpc>
                <a:tabLst/>
              </a:pPr>
              <a:r>
                <a:rPr sz="400" kern="0" spc="50" dirty="0">
                  <a:solidFill>
                    <a:srgbClr val="F2F2F2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(UW-Madison)</a:t>
              </a:r>
              <a:r>
                <a:rPr sz="400" kern="0" spc="0" dirty="0">
                  <a:solidFill>
                    <a:srgbClr val="F2F2F2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                                                                          </a:t>
              </a:r>
              <a:r>
                <a:rPr sz="400" kern="0" spc="5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7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Semantic</a:t>
              </a:r>
              <a:r>
                <a:rPr sz="400" kern="0" spc="14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7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 </a:t>
              </a:r>
              <a:r>
                <a:rPr sz="400" kern="0" spc="5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7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Sentimen</a:t>
              </a:r>
              <a:r>
                <a:rPr sz="400" kern="0" spc="4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7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t</a:t>
              </a:r>
              <a:r>
                <a:rPr sz="400" kern="0" spc="9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7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 </a:t>
              </a:r>
              <a:r>
                <a:rPr sz="400" kern="0" spc="4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7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&amp;</a:t>
              </a:r>
              <a:r>
                <a:rPr sz="400" kern="0" spc="10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7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 </a:t>
              </a:r>
              <a:r>
                <a:rPr sz="400" kern="0" spc="4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7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Crypto</a:t>
              </a:r>
              <a:r>
                <a:rPr sz="400" kern="0" spc="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                                                                   </a:t>
              </a:r>
              <a:r>
                <a:rPr sz="400" kern="0" spc="4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December</a:t>
              </a:r>
              <a:r>
                <a:rPr sz="400" kern="0" spc="14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400" kern="0" spc="4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9,</a:t>
              </a:r>
              <a:r>
                <a:rPr sz="400" kern="0" spc="9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400" kern="0" spc="4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2025</a:t>
              </a:r>
              <a:r>
                <a:rPr sz="400" kern="0" spc="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                          </a:t>
              </a:r>
              <a:r>
                <a:rPr sz="400" kern="0" spc="4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10 / 15</a:t>
              </a:r>
              <a:endParaRPr sz="4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218" name="textbox 218"/>
          <p:cNvSpPr/>
          <p:nvPr/>
        </p:nvSpPr>
        <p:spPr>
          <a:xfrm>
            <a:off x="118891" y="788062"/>
            <a:ext cx="2817495" cy="1562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54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900" b="1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Theoretical</a:t>
            </a:r>
            <a:r>
              <a:rPr sz="900" b="1" kern="0" spc="2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Framework:  Information</a:t>
            </a:r>
            <a:r>
              <a:rPr sz="900" b="1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Asymmetr</a:t>
            </a:r>
            <a:r>
              <a:rPr sz="9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y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220" name="textbox 220"/>
          <p:cNvSpPr/>
          <p:nvPr/>
        </p:nvSpPr>
        <p:spPr>
          <a:xfrm>
            <a:off x="431838" y="1216461"/>
            <a:ext cx="935989" cy="3086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760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45719" algn="l" rtl="0" eaLnBrk="0">
              <a:lnSpc>
                <a:spcPct val="104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1.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Retail</a:t>
            </a:r>
            <a:r>
              <a:rPr sz="900" kern="0" spc="1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Noise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(Twitter/FOMO)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222" name="textbox 222"/>
          <p:cNvSpPr/>
          <p:nvPr/>
        </p:nvSpPr>
        <p:spPr>
          <a:xfrm>
            <a:off x="1841474" y="1232260"/>
            <a:ext cx="744855" cy="2749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14604" algn="l" rtl="0" eaLnBrk="0">
              <a:lnSpc>
                <a:spcPct val="95000"/>
              </a:lnSpc>
              <a:tabLst/>
            </a:pP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2. 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Sentiment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Accumulation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224" name="textbox 224"/>
          <p:cNvSpPr/>
          <p:nvPr/>
        </p:nvSpPr>
        <p:spPr>
          <a:xfrm>
            <a:off x="4606245" y="1232273"/>
            <a:ext cx="560705" cy="2749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635" algn="l" rtl="0" eaLnBrk="0">
              <a:lnSpc>
                <a:spcPct val="95000"/>
              </a:lnSpc>
              <a:tabLst/>
            </a:pP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4.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Market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Correction</a:t>
            </a:r>
            <a:endParaRPr sz="9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textbox 226"/>
          <p:cNvSpPr/>
          <p:nvPr/>
        </p:nvSpPr>
        <p:spPr>
          <a:xfrm>
            <a:off x="77473" y="719735"/>
            <a:ext cx="4902200" cy="22586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54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95000"/>
              </a:lnSpc>
              <a:tabLst/>
            </a:pPr>
            <a:r>
              <a:rPr sz="900" b="1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1.  Signal</a:t>
            </a:r>
            <a:r>
              <a:rPr sz="900" b="1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Strengt</a:t>
            </a:r>
            <a:r>
              <a:rPr sz="900" b="1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</a:t>
            </a:r>
            <a:r>
              <a:rPr sz="900" b="1" kern="0" spc="2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(PCA):</a:t>
            </a:r>
            <a:endParaRPr sz="900" dirty="0">
              <a:latin typeface="Arial"/>
              <a:ea typeface="Arial"/>
              <a:cs typeface="Arial"/>
            </a:endParaRPr>
          </a:p>
          <a:p>
            <a:pPr marL="196214" algn="l" rtl="0" eaLnBrk="0">
              <a:lnSpc>
                <a:spcPct val="93000"/>
              </a:lnSpc>
              <a:spcBef>
                <a:spcPts val="490"/>
              </a:spcBef>
              <a:tabLst>
                <a:tab pos="264159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The</a:t>
            </a:r>
            <a:r>
              <a:rPr sz="900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st</a:t>
            </a:r>
            <a:r>
              <a:rPr sz="900" kern="0" spc="1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Principal</a:t>
            </a:r>
            <a:r>
              <a:rPr sz="9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Component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PC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1)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explains</a:t>
            </a:r>
            <a:endParaRPr sz="900" dirty="0">
              <a:latin typeface="Arial"/>
              <a:ea typeface="Arial"/>
              <a:cs typeface="Arial"/>
            </a:endParaRPr>
          </a:p>
          <a:p>
            <a:pPr marL="269240" algn="l" rtl="0" eaLnBrk="0">
              <a:lnSpc>
                <a:spcPts val="1195"/>
              </a:lnSpc>
              <a:tabLst/>
            </a:pPr>
            <a:r>
              <a:rPr sz="900" b="1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19.42%</a:t>
            </a:r>
            <a:r>
              <a:rPr sz="900" b="1" kern="0" spc="2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total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variance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endParaRPr sz="900" dirty="0">
              <a:latin typeface="Arial"/>
              <a:ea typeface="Arial"/>
              <a:cs typeface="Arial"/>
            </a:endParaRPr>
          </a:p>
          <a:p>
            <a:pPr marL="196214" algn="l" rtl="0" eaLnBrk="0">
              <a:lnSpc>
                <a:spcPct val="93000"/>
              </a:lnSpc>
              <a:spcBef>
                <a:spcPts val="490"/>
              </a:spcBef>
              <a:tabLst>
                <a:tab pos="276225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Context:  In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768-di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mensional</a:t>
            </a:r>
            <a:r>
              <a:rPr sz="900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noisy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space,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endParaRPr sz="900" dirty="0">
              <a:latin typeface="Arial"/>
              <a:ea typeface="Arial"/>
              <a:cs typeface="Arial"/>
            </a:endParaRPr>
          </a:p>
          <a:p>
            <a:pPr marL="269875" algn="l" rtl="0" eaLnBrk="0">
              <a:lnSpc>
                <a:spcPts val="1195"/>
              </a:lnSpc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random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baseline</a:t>
            </a:r>
            <a:r>
              <a:rPr sz="9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is</a:t>
            </a:r>
            <a:r>
              <a:rPr sz="9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≈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0.1%.</a:t>
            </a:r>
            <a:endParaRPr sz="900" dirty="0">
              <a:latin typeface="Arial"/>
              <a:ea typeface="Arial"/>
              <a:cs typeface="Arial"/>
            </a:endParaRPr>
          </a:p>
          <a:p>
            <a:pPr marL="196214" algn="l" rtl="0" eaLnBrk="0">
              <a:lnSpc>
                <a:spcPct val="95000"/>
              </a:lnSpc>
              <a:spcBef>
                <a:spcPts val="468"/>
              </a:spcBef>
              <a:tabLst>
                <a:tab pos="271145" algn="l"/>
              </a:tabLst>
            </a:pP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Implication:</a:t>
            </a:r>
            <a:r>
              <a:rPr sz="900" b="1" kern="0" spc="2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We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succ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essfully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extracted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endParaRPr sz="900" dirty="0">
              <a:latin typeface="Arial"/>
              <a:ea typeface="Arial"/>
              <a:cs typeface="Arial"/>
            </a:endParaRPr>
          </a:p>
          <a:p>
            <a:pPr marL="263525" algn="l" rtl="0" eaLnBrk="0">
              <a:lnSpc>
                <a:spcPct val="75000"/>
              </a:lnSpc>
              <a:spcBef>
                <a:spcPts val="245"/>
              </a:spcBef>
              <a:tabLst/>
            </a:pP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”Dominant</a:t>
            </a:r>
            <a:r>
              <a:rPr sz="900" kern="0" spc="1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Market</a:t>
            </a:r>
            <a:r>
              <a:rPr sz="900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Narrative”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from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900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noise.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1460"/>
              </a:spcBef>
              <a:tabLst/>
            </a:pPr>
            <a:r>
              <a:rPr sz="900" b="1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2. 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Temporal</a:t>
            </a:r>
            <a:r>
              <a:rPr sz="900" b="1" kern="0" spc="2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Dynamics</a:t>
            </a:r>
            <a:r>
              <a:rPr sz="900" b="1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:</a:t>
            </a:r>
            <a:endParaRPr sz="900" dirty="0">
              <a:latin typeface="Arial"/>
              <a:ea typeface="Arial"/>
              <a:cs typeface="Arial"/>
            </a:endParaRPr>
          </a:p>
          <a:p>
            <a:pPr marL="196214" algn="l" rtl="0" eaLnBrk="0">
              <a:lnSpc>
                <a:spcPct val="95000"/>
              </a:lnSpc>
              <a:spcBef>
                <a:spcPts val="468"/>
              </a:spcBef>
              <a:tabLst>
                <a:tab pos="271145" algn="l"/>
              </a:tabLst>
            </a:pP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Peak</a:t>
            </a:r>
            <a:r>
              <a:rPr sz="900" b="1" kern="0" spc="2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Correlation</a:t>
            </a:r>
            <a:r>
              <a:rPr sz="900" b="1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: 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Found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at</a:t>
            </a:r>
            <a:r>
              <a:rPr sz="900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Lag</a:t>
            </a:r>
            <a:r>
              <a:rPr sz="900" b="1" kern="0" spc="1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=</a:t>
            </a:r>
            <a:r>
              <a:rPr sz="900" b="1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29</a:t>
            </a:r>
            <a:r>
              <a:rPr sz="900" b="1" kern="0" spc="2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Days</a:t>
            </a: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endParaRPr sz="900" dirty="0">
              <a:latin typeface="Arial"/>
              <a:ea typeface="Arial"/>
              <a:cs typeface="Arial"/>
            </a:endParaRPr>
          </a:p>
          <a:p>
            <a:pPr marL="196214" algn="l" rtl="0" eaLnBrk="0">
              <a:lnSpc>
                <a:spcPct val="75000"/>
              </a:lnSpc>
              <a:spcBef>
                <a:spcPts val="536"/>
              </a:spcBef>
              <a:tabLst>
                <a:tab pos="264159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This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confirms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”Sent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iment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Accumulation”</a:t>
            </a:r>
            <a:endParaRPr sz="900" dirty="0">
              <a:latin typeface="Arial"/>
              <a:ea typeface="Arial"/>
              <a:cs typeface="Arial"/>
            </a:endParaRPr>
          </a:p>
          <a:p>
            <a:pPr marL="269875" algn="l" rtl="0" eaLnBrk="0">
              <a:lnSpc>
                <a:spcPts val="1195"/>
              </a:lnSpc>
              <a:spcBef>
                <a:spcPts val="148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phase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before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price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drop.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3000"/>
              </a:lnSpc>
              <a:spcBef>
                <a:spcPts val="2"/>
              </a:spcBef>
              <a:tabLst/>
            </a:pP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figure</a:t>
            </a:r>
            <a:r>
              <a:rPr sz="7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Lag</a:t>
            </a:r>
            <a:r>
              <a:rPr sz="7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Analysis</a:t>
            </a:r>
            <a:r>
              <a:rPr sz="7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(29</a:t>
            </a:r>
            <a:r>
              <a:rPr sz="700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Days)</a:t>
            </a:r>
            <a:endParaRPr sz="700" dirty="0">
              <a:latin typeface="Arial"/>
              <a:ea typeface="Arial"/>
              <a:cs typeface="Arial"/>
            </a:endParaRPr>
          </a:p>
        </p:txBody>
      </p:sp>
      <p:pic>
        <p:nvPicPr>
          <p:cNvPr id="228" name="picture 2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14528" y="2471216"/>
            <a:ext cx="59601" cy="59601"/>
          </a:xfrm>
          <a:prstGeom prst="rect">
            <a:avLst/>
          </a:prstGeom>
        </p:spPr>
      </p:pic>
      <p:pic>
        <p:nvPicPr>
          <p:cNvPr id="230" name="picture 2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14528" y="2281427"/>
            <a:ext cx="59601" cy="59601"/>
          </a:xfrm>
          <a:prstGeom prst="rect">
            <a:avLst/>
          </a:prstGeom>
        </p:spPr>
      </p:pic>
      <p:pic>
        <p:nvPicPr>
          <p:cNvPr id="232" name="picture 2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14528" y="1642020"/>
            <a:ext cx="59601" cy="59601"/>
          </a:xfrm>
          <a:prstGeom prst="rect">
            <a:avLst/>
          </a:prstGeom>
        </p:spPr>
      </p:pic>
      <p:pic>
        <p:nvPicPr>
          <p:cNvPr id="234" name="picture 23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14528" y="1300403"/>
            <a:ext cx="59601" cy="59601"/>
          </a:xfrm>
          <a:prstGeom prst="rect">
            <a:avLst/>
          </a:prstGeom>
        </p:spPr>
      </p:pic>
      <p:pic>
        <p:nvPicPr>
          <p:cNvPr id="236" name="picture 23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14528" y="958786"/>
            <a:ext cx="59601" cy="59601"/>
          </a:xfrm>
          <a:prstGeom prst="rect">
            <a:avLst/>
          </a:prstGeom>
        </p:spPr>
      </p:pic>
      <p:pic>
        <p:nvPicPr>
          <p:cNvPr id="238" name="picture 23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2922180" y="487189"/>
            <a:ext cx="2753404" cy="2294503"/>
          </a:xfrm>
          <a:prstGeom prst="rect">
            <a:avLst/>
          </a:prstGeom>
        </p:spPr>
      </p:pic>
      <p:sp>
        <p:nvSpPr>
          <p:cNvPr id="240" name="textbox 240"/>
          <p:cNvSpPr/>
          <p:nvPr/>
        </p:nvSpPr>
        <p:spPr>
          <a:xfrm>
            <a:off x="0" y="0"/>
            <a:ext cx="5760084" cy="350520"/>
          </a:xfrm>
          <a:prstGeom prst="rect">
            <a:avLst/>
          </a:prstGeom>
          <a:solidFill>
            <a:srgbClr val="C5050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12395" algn="l" rtl="0" eaLnBrk="0">
              <a:lnSpc>
                <a:spcPct val="93000"/>
              </a:lnSpc>
              <a:tabLst/>
            </a:pPr>
            <a:r>
              <a:rPr sz="13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4.2</a:t>
            </a:r>
            <a:r>
              <a:rPr sz="1300" kern="0" spc="2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Discovery:</a:t>
            </a:r>
            <a:r>
              <a:rPr sz="1300" kern="0" spc="3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Signal</a:t>
            </a:r>
            <a:r>
              <a:rPr sz="1300" kern="0" spc="2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Extraction   Lag</a:t>
            </a:r>
            <a:r>
              <a:rPr sz="1300" kern="0" spc="1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Analysis</a:t>
            </a:r>
            <a:endParaRPr sz="1300" dirty="0">
              <a:latin typeface="Arial"/>
              <a:ea typeface="Arial"/>
              <a:cs typeface="Arial"/>
            </a:endParaRPr>
          </a:p>
        </p:txBody>
      </p:sp>
      <p:grpSp>
        <p:nvGrpSpPr>
          <p:cNvPr id="24" name="group 24"/>
          <p:cNvGrpSpPr/>
          <p:nvPr/>
        </p:nvGrpSpPr>
        <p:grpSpPr>
          <a:xfrm rot="21600000">
            <a:off x="0" y="3148621"/>
            <a:ext cx="5759918" cy="91376"/>
            <a:chOff x="0" y="0"/>
            <a:chExt cx="5759918" cy="91376"/>
          </a:xfrm>
        </p:grpSpPr>
        <p:pic>
          <p:nvPicPr>
            <p:cNvPr id="242" name="picture 242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0" y="0"/>
              <a:ext cx="5759918" cy="91376"/>
            </a:xfrm>
            <a:prstGeom prst="rect">
              <a:avLst/>
            </a:prstGeom>
          </p:spPr>
        </p:pic>
        <p:sp>
          <p:nvSpPr>
            <p:cNvPr id="244" name="textbox 244"/>
            <p:cNvSpPr/>
            <p:nvPr/>
          </p:nvSpPr>
          <p:spPr>
            <a:xfrm>
              <a:off x="-12700" y="-12699"/>
              <a:ext cx="5785484" cy="11683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700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789940" algn="l" rtl="0" eaLnBrk="0">
                <a:lnSpc>
                  <a:spcPts val="641"/>
                </a:lnSpc>
                <a:tabLst/>
              </a:pPr>
              <a:r>
                <a:rPr sz="400" kern="0" spc="50" dirty="0">
                  <a:solidFill>
                    <a:srgbClr val="F2F2F2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(UW-Madison)</a:t>
              </a:r>
              <a:r>
                <a:rPr sz="400" kern="0" spc="0" dirty="0">
                  <a:solidFill>
                    <a:srgbClr val="F2F2F2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                                                                          </a:t>
              </a:r>
              <a:r>
                <a:rPr sz="400" kern="0" spc="5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9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Semantic</a:t>
              </a:r>
              <a:r>
                <a:rPr sz="400" kern="0" spc="14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9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 </a:t>
              </a:r>
              <a:r>
                <a:rPr sz="400" kern="0" spc="5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9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Sentimen</a:t>
              </a:r>
              <a:r>
                <a:rPr sz="400" kern="0" spc="4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9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t</a:t>
              </a:r>
              <a:r>
                <a:rPr sz="400" kern="0" spc="9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9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 </a:t>
              </a:r>
              <a:r>
                <a:rPr sz="400" kern="0" spc="4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9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&amp;</a:t>
              </a:r>
              <a:r>
                <a:rPr sz="400" kern="0" spc="10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9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 </a:t>
              </a:r>
              <a:r>
                <a:rPr sz="400" kern="0" spc="4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9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Crypto</a:t>
              </a:r>
              <a:r>
                <a:rPr sz="400" kern="0" spc="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                                                                   </a:t>
              </a:r>
              <a:r>
                <a:rPr sz="400" kern="0" spc="4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December</a:t>
              </a:r>
              <a:r>
                <a:rPr sz="400" kern="0" spc="14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400" kern="0" spc="4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9,</a:t>
              </a:r>
              <a:r>
                <a:rPr sz="400" kern="0" spc="9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400" kern="0" spc="4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2025</a:t>
              </a:r>
              <a:r>
                <a:rPr sz="400" kern="0" spc="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                          </a:t>
              </a:r>
              <a:r>
                <a:rPr sz="400" kern="0" spc="4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11 / 15</a:t>
              </a:r>
              <a:endParaRPr sz="400" dirty="0">
                <a:latin typeface="Arial"/>
                <a:ea typeface="Arial"/>
                <a:cs typeface="Arial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picture 2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922180" y="426458"/>
            <a:ext cx="2753404" cy="2294504"/>
          </a:xfrm>
          <a:prstGeom prst="rect">
            <a:avLst/>
          </a:prstGeom>
        </p:spPr>
      </p:pic>
      <p:sp>
        <p:nvSpPr>
          <p:cNvPr id="248" name="textbox 248"/>
          <p:cNvSpPr/>
          <p:nvPr/>
        </p:nvSpPr>
        <p:spPr>
          <a:xfrm>
            <a:off x="74690" y="641126"/>
            <a:ext cx="2699385" cy="21983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49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334" indent="3175" algn="l" rtl="0" eaLnBrk="0">
              <a:lnSpc>
                <a:spcPct val="104000"/>
              </a:lnSpc>
              <a:tabLst/>
            </a:pP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Observation</a:t>
            </a:r>
            <a:r>
              <a:rPr sz="900" b="1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: 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chart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trends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move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     </a:t>
            </a:r>
            <a:r>
              <a:rPr sz="9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opposite</a:t>
            </a:r>
            <a:r>
              <a:rPr sz="900" b="1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direct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ions.</a:t>
            </a:r>
            <a:endParaRPr sz="900" dirty="0">
              <a:latin typeface="Arial"/>
              <a:ea typeface="Arial"/>
              <a:cs typeface="Arial"/>
            </a:endParaRPr>
          </a:p>
          <a:p>
            <a:pPr marL="199389" algn="l" rtl="0" eaLnBrk="0">
              <a:lnSpc>
                <a:spcPct val="95000"/>
              </a:lnSpc>
              <a:spcBef>
                <a:spcPts val="997"/>
              </a:spcBef>
              <a:tabLst>
                <a:tab pos="269875" algn="l"/>
              </a:tabLst>
            </a:pPr>
            <a:r>
              <a:rPr sz="900" b="1" kern="0" spc="0" dirty="0">
                <a:solidFill>
                  <a:srgbClr val="C5050C">
                    <a:alpha val="100000"/>
                  </a:srgbClr>
                </a:solidFill>
                <a:latin typeface="Arial"/>
                <a:ea typeface="Arial"/>
                <a:cs typeface="Arial"/>
              </a:rPr>
              <a:t>	Correlation</a:t>
            </a:r>
            <a:r>
              <a:rPr sz="900" b="1" kern="0" spc="200" dirty="0">
                <a:solidFill>
                  <a:srgbClr val="C5050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0" dirty="0">
                <a:solidFill>
                  <a:srgbClr val="C5050C">
                    <a:alpha val="100000"/>
                  </a:srgbClr>
                </a:solidFill>
                <a:latin typeface="Arial"/>
                <a:ea typeface="Arial"/>
                <a:cs typeface="Arial"/>
              </a:rPr>
              <a:t>Coefficient</a:t>
            </a:r>
            <a:r>
              <a:rPr sz="900" b="1" kern="0" spc="90" dirty="0">
                <a:solidFill>
                  <a:srgbClr val="C5050C">
                    <a:alpha val="100000"/>
                  </a:srgbClr>
                </a:solidFill>
                <a:latin typeface="Arial"/>
                <a:ea typeface="Arial"/>
                <a:cs typeface="Arial"/>
              </a:rPr>
              <a:t>:</a:t>
            </a:r>
            <a:r>
              <a:rPr sz="900" b="1" kern="0" spc="240" dirty="0">
                <a:solidFill>
                  <a:srgbClr val="C5050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90" dirty="0">
                <a:solidFill>
                  <a:srgbClr val="C5050C">
                    <a:alpha val="100000"/>
                  </a:srgbClr>
                </a:solidFill>
                <a:latin typeface="Arial"/>
                <a:ea typeface="Arial"/>
                <a:cs typeface="Arial"/>
              </a:rPr>
              <a:t>-0.76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1319"/>
              </a:spcBef>
              <a:tabLst/>
            </a:pPr>
            <a:r>
              <a:rPr sz="900" b="1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Why</a:t>
            </a:r>
            <a:r>
              <a:rPr sz="900" b="1" kern="0" spc="2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Negative?</a:t>
            </a:r>
            <a:endParaRPr sz="900" dirty="0">
              <a:latin typeface="Arial"/>
              <a:ea typeface="Arial"/>
              <a:cs typeface="Arial"/>
            </a:endParaRPr>
          </a:p>
          <a:p>
            <a:pPr marL="199389" algn="l" rtl="0" eaLnBrk="0">
              <a:lnSpc>
                <a:spcPct val="75000"/>
              </a:lnSpc>
              <a:spcBef>
                <a:spcPts val="543"/>
              </a:spcBef>
              <a:tabLst>
                <a:tab pos="269875" algn="l"/>
              </a:tabLst>
            </a:pP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b="1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Contrarian</a:t>
            </a:r>
            <a:r>
              <a:rPr sz="900" b="1" kern="0" spc="2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Indicator:</a:t>
            </a:r>
            <a:r>
              <a:rPr sz="900" b="1" kern="0" spc="2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When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Twitter</a:t>
            </a:r>
            <a:endParaRPr sz="900" dirty="0">
              <a:latin typeface="Arial"/>
              <a:ea typeface="Arial"/>
              <a:cs typeface="Arial"/>
            </a:endParaRPr>
          </a:p>
          <a:p>
            <a:pPr marL="274954" indent="-8889" algn="l" rtl="0" eaLnBrk="0">
              <a:lnSpc>
                <a:spcPct val="104000"/>
              </a:lnSpc>
              <a:spcBef>
                <a:spcPts val="313"/>
              </a:spcBef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sentiment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reaches</a:t>
            </a:r>
            <a:r>
              <a:rPr sz="900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peak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euphoria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(”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To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     Moon</a:t>
            </a: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!”),</a:t>
            </a:r>
            <a:r>
              <a:rPr sz="900" kern="0" spc="1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it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signals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overheated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market</a:t>
            </a: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endParaRPr sz="900" dirty="0">
              <a:latin typeface="Arial"/>
              <a:ea typeface="Arial"/>
              <a:cs typeface="Arial"/>
            </a:endParaRPr>
          </a:p>
          <a:p>
            <a:pPr marL="199389" algn="l" rtl="0" eaLnBrk="0">
              <a:lnSpc>
                <a:spcPct val="93000"/>
              </a:lnSpc>
              <a:spcBef>
                <a:spcPts val="464"/>
              </a:spcBef>
              <a:tabLst>
                <a:tab pos="273684" algn="l"/>
              </a:tabLst>
            </a:pP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Behavioral</a:t>
            </a:r>
            <a:r>
              <a:rPr sz="900" b="1" kern="0" spc="2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Finance: 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High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sentiment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=</a:t>
            </a:r>
            <a:endParaRPr sz="900" dirty="0">
              <a:latin typeface="Arial"/>
              <a:ea typeface="Arial"/>
              <a:cs typeface="Arial"/>
            </a:endParaRPr>
          </a:p>
          <a:p>
            <a:pPr marL="266700" indent="6985" algn="l" rtl="0" eaLnBrk="0">
              <a:lnSpc>
                <a:spcPct val="112000"/>
              </a:lnSpc>
              <a:spcBef>
                <a:spcPts val="177"/>
              </a:spcBef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Irrational</a:t>
            </a:r>
            <a:r>
              <a:rPr sz="900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Exuberance</a:t>
            </a:r>
            <a:r>
              <a:rPr sz="9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→</a:t>
            </a:r>
            <a:r>
              <a:rPr sz="900" kern="0" spc="2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High</a:t>
            </a:r>
            <a:r>
              <a:rPr sz="900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probability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crash.</a:t>
            </a:r>
            <a:endParaRPr sz="900" dirty="0">
              <a:latin typeface="Arial"/>
              <a:ea typeface="Arial"/>
              <a:cs typeface="Arial"/>
            </a:endParaRPr>
          </a:p>
          <a:p>
            <a:pPr marL="267334" indent="-67944" algn="l" rtl="0" eaLnBrk="0">
              <a:lnSpc>
                <a:spcPct val="105000"/>
              </a:lnSpc>
              <a:spcBef>
                <a:spcPts val="255"/>
              </a:spcBef>
              <a:tabLst>
                <a:tab pos="269240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	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Our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captures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this:  </a:t>
            </a:r>
            <a:r>
              <a:rPr sz="9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Rising</a:t>
            </a:r>
            <a:r>
              <a:rPr sz="900" b="1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Sentiment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Trend</a:t>
            </a:r>
            <a:r>
              <a:rPr sz="900" b="1" kern="0" spc="1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→</a:t>
            </a:r>
            <a:r>
              <a:rPr sz="900" kern="0" spc="2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Future</a:t>
            </a:r>
            <a:r>
              <a:rPr sz="900" b="1" kern="0" spc="2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Price</a:t>
            </a:r>
            <a:r>
              <a:rPr sz="900" b="1" kern="0" spc="2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Drop</a:t>
            </a:r>
            <a:r>
              <a:rPr sz="900" b="1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250" name="picture 25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14528" y="2575827"/>
            <a:ext cx="59601" cy="59601"/>
          </a:xfrm>
          <a:prstGeom prst="rect">
            <a:avLst/>
          </a:prstGeom>
        </p:spPr>
      </p:pic>
      <p:pic>
        <p:nvPicPr>
          <p:cNvPr id="252" name="picture 25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14528" y="2082381"/>
            <a:ext cx="59601" cy="59601"/>
          </a:xfrm>
          <a:prstGeom prst="rect">
            <a:avLst/>
          </a:prstGeom>
        </p:spPr>
      </p:pic>
      <p:pic>
        <p:nvPicPr>
          <p:cNvPr id="254" name="picture 25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14528" y="1588922"/>
            <a:ext cx="59601" cy="59601"/>
          </a:xfrm>
          <a:prstGeom prst="rect">
            <a:avLst/>
          </a:prstGeom>
        </p:spPr>
      </p:pic>
      <p:pic>
        <p:nvPicPr>
          <p:cNvPr id="256" name="picture 25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14528" y="1101344"/>
            <a:ext cx="59601" cy="59601"/>
          </a:xfrm>
          <a:prstGeom prst="rect">
            <a:avLst/>
          </a:prstGeom>
        </p:spPr>
      </p:pic>
      <p:sp>
        <p:nvSpPr>
          <p:cNvPr id="258" name="textbox 258"/>
          <p:cNvSpPr/>
          <p:nvPr/>
        </p:nvSpPr>
        <p:spPr>
          <a:xfrm>
            <a:off x="0" y="0"/>
            <a:ext cx="5760084" cy="350520"/>
          </a:xfrm>
          <a:prstGeom prst="rect">
            <a:avLst/>
          </a:prstGeom>
          <a:solidFill>
            <a:srgbClr val="C5050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12395" algn="l" rtl="0" eaLnBrk="0">
              <a:lnSpc>
                <a:spcPct val="86000"/>
              </a:lnSpc>
              <a:spcBef>
                <a:spcPts val="6"/>
              </a:spcBef>
              <a:tabLst/>
            </a:pPr>
            <a:r>
              <a:rPr sz="14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4.3</a:t>
            </a:r>
            <a:r>
              <a:rPr sz="1400" kern="0" spc="2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Interpreting</a:t>
            </a:r>
            <a:r>
              <a:rPr sz="1400" kern="0" spc="1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1400" kern="0" spc="1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”In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verted”</a:t>
            </a:r>
            <a:r>
              <a:rPr sz="1400" kern="0" spc="1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Signal</a:t>
            </a:r>
            <a:endParaRPr sz="1400" dirty="0">
              <a:latin typeface="Arial"/>
              <a:ea typeface="Arial"/>
              <a:cs typeface="Arial"/>
            </a:endParaRPr>
          </a:p>
        </p:txBody>
      </p:sp>
      <p:sp>
        <p:nvSpPr>
          <p:cNvPr id="260" name="textbox 260"/>
          <p:cNvSpPr/>
          <p:nvPr/>
        </p:nvSpPr>
        <p:spPr>
          <a:xfrm>
            <a:off x="2980981" y="2764058"/>
            <a:ext cx="2637789" cy="2990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10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figure</a:t>
            </a:r>
            <a:r>
              <a:rPr sz="7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Note</a:t>
            </a:r>
            <a:r>
              <a:rPr sz="7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7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he</a:t>
            </a:r>
            <a:r>
              <a:rPr sz="7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Divergence:</a:t>
            </a: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7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Sentiment</a:t>
            </a:r>
            <a:r>
              <a:rPr sz="7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(Purple)</a:t>
            </a:r>
            <a:r>
              <a:rPr sz="7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Spikes</a:t>
            </a:r>
            <a:r>
              <a:rPr sz="7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→</a:t>
            </a:r>
            <a:endParaRPr sz="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41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840105" algn="l" rtl="0" eaLnBrk="0">
              <a:lnSpc>
                <a:spcPct val="96000"/>
              </a:lnSpc>
              <a:spcBef>
                <a:spcPts val="1"/>
              </a:spcBef>
              <a:tabLst/>
            </a:pPr>
            <a:r>
              <a:rPr sz="7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Price</a:t>
            </a:r>
            <a:r>
              <a:rPr sz="7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(Black</a:t>
            </a:r>
            <a:r>
              <a:rPr sz="7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)</a:t>
            </a:r>
            <a:r>
              <a:rPr sz="7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Crashes</a:t>
            </a:r>
            <a:endParaRPr sz="700" dirty="0">
              <a:latin typeface="Arial"/>
              <a:ea typeface="Arial"/>
              <a:cs typeface="Arial"/>
            </a:endParaRPr>
          </a:p>
        </p:txBody>
      </p:sp>
      <p:grpSp>
        <p:nvGrpSpPr>
          <p:cNvPr id="26" name="group 26"/>
          <p:cNvGrpSpPr/>
          <p:nvPr/>
        </p:nvGrpSpPr>
        <p:grpSpPr>
          <a:xfrm rot="21600000">
            <a:off x="0" y="3148622"/>
            <a:ext cx="5759918" cy="91375"/>
            <a:chOff x="0" y="0"/>
            <a:chExt cx="5759918" cy="91375"/>
          </a:xfrm>
        </p:grpSpPr>
        <p:pic>
          <p:nvPicPr>
            <p:cNvPr id="262" name="picture 262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5759918" cy="91375"/>
            </a:xfrm>
            <a:prstGeom prst="rect">
              <a:avLst/>
            </a:prstGeom>
          </p:spPr>
        </p:pic>
        <p:sp>
          <p:nvSpPr>
            <p:cNvPr id="264" name="textbox 264"/>
            <p:cNvSpPr/>
            <p:nvPr/>
          </p:nvSpPr>
          <p:spPr>
            <a:xfrm>
              <a:off x="-12700" y="-12699"/>
              <a:ext cx="5785484" cy="11683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700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789940" algn="l" rtl="0" eaLnBrk="0">
                <a:lnSpc>
                  <a:spcPts val="641"/>
                </a:lnSpc>
                <a:tabLst/>
              </a:pPr>
              <a:r>
                <a:rPr sz="400" kern="0" spc="50" dirty="0">
                  <a:solidFill>
                    <a:srgbClr val="F2F2F2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(UW-Madison)</a:t>
              </a:r>
              <a:r>
                <a:rPr sz="400" kern="0" spc="0" dirty="0">
                  <a:solidFill>
                    <a:srgbClr val="F2F2F2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                                                                          </a:t>
              </a:r>
              <a:r>
                <a:rPr sz="400" kern="0" spc="5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8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Semantic</a:t>
              </a:r>
              <a:r>
                <a:rPr sz="400" kern="0" spc="14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8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 </a:t>
              </a:r>
              <a:r>
                <a:rPr sz="400" kern="0" spc="5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8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Sentimen</a:t>
              </a:r>
              <a:r>
                <a:rPr sz="400" kern="0" spc="4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8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t</a:t>
              </a:r>
              <a:r>
                <a:rPr sz="400" kern="0" spc="9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8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 </a:t>
              </a:r>
              <a:r>
                <a:rPr sz="400" kern="0" spc="4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8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&amp;</a:t>
              </a:r>
              <a:r>
                <a:rPr sz="400" kern="0" spc="10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8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 </a:t>
              </a:r>
              <a:r>
                <a:rPr sz="400" kern="0" spc="4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8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Crypto</a:t>
              </a:r>
              <a:r>
                <a:rPr sz="400" kern="0" spc="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                                                                   </a:t>
              </a:r>
              <a:r>
                <a:rPr sz="400" kern="0" spc="4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December</a:t>
              </a:r>
              <a:r>
                <a:rPr sz="400" kern="0" spc="14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400" kern="0" spc="4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9,</a:t>
              </a:r>
              <a:r>
                <a:rPr sz="400" kern="0" spc="9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400" kern="0" spc="4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2025</a:t>
              </a:r>
              <a:r>
                <a:rPr sz="400" kern="0" spc="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                          </a:t>
              </a:r>
              <a:r>
                <a:rPr sz="400" kern="0" spc="4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12 / 15</a:t>
              </a:r>
              <a:endParaRPr sz="400" dirty="0">
                <a:latin typeface="Arial"/>
                <a:ea typeface="Arial"/>
                <a:cs typeface="Arial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textbox 266"/>
          <p:cNvSpPr/>
          <p:nvPr/>
        </p:nvSpPr>
        <p:spPr>
          <a:xfrm>
            <a:off x="75196" y="370879"/>
            <a:ext cx="4990465" cy="2497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54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0320" algn="l" rtl="0" eaLnBrk="0">
              <a:lnSpc>
                <a:spcPct val="95000"/>
              </a:lnSpc>
              <a:tabLst/>
            </a:pPr>
            <a:r>
              <a:rPr sz="9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Model</a:t>
            </a:r>
            <a:r>
              <a:rPr sz="900" b="1" kern="0" spc="2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Specification:</a:t>
            </a:r>
            <a:r>
              <a:rPr sz="900" b="1" kern="0" spc="2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We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fitted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900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Linear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95"/>
              </a:lnSpc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ARX</a:t>
            </a:r>
            <a:r>
              <a:rPr sz="900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Auto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Regressive</a:t>
            </a: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with</a:t>
            </a:r>
            <a:r>
              <a:rPr sz="900" kern="0" spc="1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Exogenous</a:t>
            </a:r>
            <a:endParaRPr sz="9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93000"/>
              </a:lnSpc>
              <a:spcBef>
                <a:spcPts val="191"/>
              </a:spcBef>
              <a:tabLst/>
            </a:pP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input)</a:t>
            </a:r>
            <a:r>
              <a:rPr sz="900" kern="0" spc="2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model: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40665" algn="l" rtl="0" eaLnBrk="0">
              <a:lnSpc>
                <a:spcPct val="92000"/>
              </a:lnSpc>
              <a:spcBef>
                <a:spcPts val="296"/>
              </a:spcBef>
              <a:tabLst/>
            </a:pPr>
            <a:r>
              <a:rPr sz="1500" kern="0" spc="0" baseline="3472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1000" kern="0" spc="0" baseline="-5208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6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500" kern="0" spc="90" baseline="3472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=</a:t>
            </a: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90" baseline="3472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α</a:t>
            </a: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90" baseline="3472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+</a:t>
            </a: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90" baseline="3472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β</a:t>
            </a:r>
            <a:r>
              <a:rPr sz="1000" kern="0" spc="90" baseline="-5208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600" kern="0" spc="-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0" baseline="3472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1000" kern="0" spc="0" baseline="-5208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1000" kern="0" spc="90" baseline="-5208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600" kern="0" spc="-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90" baseline="-5208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6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90" baseline="3472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+</a:t>
            </a: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90" baseline="3472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β</a:t>
            </a:r>
            <a:r>
              <a:rPr sz="1000" kern="0" spc="90" baseline="-5208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600" kern="0" spc="-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0" baseline="3472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1000" kern="0" spc="0" baseline="-5208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1000" kern="0" spc="90" baseline="-5208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-2</a:t>
            </a:r>
            <a:r>
              <a:rPr sz="1000" kern="0" spc="80" baseline="-5208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9</a:t>
            </a:r>
            <a:r>
              <a:rPr sz="6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80" baseline="3472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+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80" baseline="3472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ϵ</a:t>
            </a:r>
            <a:r>
              <a:rPr sz="1000" kern="0" spc="80" baseline="-5208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endParaRPr sz="1000" baseline="-520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7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98754" algn="l" rtl="0" eaLnBrk="0">
              <a:lnSpc>
                <a:spcPct val="97000"/>
              </a:lnSpc>
              <a:spcBef>
                <a:spcPts val="247"/>
              </a:spcBef>
              <a:tabLst>
                <a:tab pos="266700" algn="l"/>
              </a:tabLst>
            </a:pP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30" baseline="-5787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:  Bitcoin</a:t>
            </a:r>
            <a:r>
              <a:rPr sz="800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Price</a:t>
            </a:r>
            <a:r>
              <a:rPr sz="8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at</a:t>
            </a:r>
            <a:r>
              <a:rPr sz="8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day</a:t>
            </a:r>
            <a:r>
              <a:rPr sz="8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t.</a:t>
            </a:r>
            <a:endParaRPr sz="800" dirty="0">
              <a:latin typeface="Arial"/>
              <a:ea typeface="Arial"/>
              <a:cs typeface="Arial"/>
            </a:endParaRPr>
          </a:p>
          <a:p>
            <a:pPr marL="198754" algn="l" rtl="0" eaLnBrk="0">
              <a:lnSpc>
                <a:spcPct val="99000"/>
              </a:lnSpc>
              <a:spcBef>
                <a:spcPts val="544"/>
              </a:spcBef>
              <a:tabLst>
                <a:tab pos="266700" algn="l"/>
              </a:tabLst>
            </a:pP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30" baseline="-5787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t-</a:t>
            </a:r>
            <a:r>
              <a:rPr sz="5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30" baseline="-5787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5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:</a:t>
            </a:r>
            <a:r>
              <a:rPr sz="800" kern="0" spc="2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b="1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Autoregression</a:t>
            </a:r>
            <a:r>
              <a:rPr sz="800" b="1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(Momentum).</a:t>
            </a:r>
            <a:endParaRPr sz="800" dirty="0">
              <a:latin typeface="Arial"/>
              <a:ea typeface="Arial"/>
              <a:cs typeface="Arial"/>
            </a:endParaRPr>
          </a:p>
          <a:p>
            <a:pPr marL="198754" algn="l" rtl="0" eaLnBrk="0">
              <a:lnSpc>
                <a:spcPct val="99000"/>
              </a:lnSpc>
              <a:spcBef>
                <a:spcPts val="544"/>
              </a:spcBef>
              <a:tabLst>
                <a:tab pos="267970" algn="l"/>
              </a:tabLst>
            </a:pP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S</a:t>
            </a:r>
            <a:r>
              <a:rPr sz="900" kern="0" spc="0" baseline="-5787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900" kern="0" spc="80" baseline="-5787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5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80" baseline="-5787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29</a:t>
            </a:r>
            <a:r>
              <a:rPr sz="5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: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Sentiment</a:t>
            </a:r>
            <a:r>
              <a:rPr sz="800" b="1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Signal</a:t>
            </a:r>
            <a:r>
              <a:rPr sz="800" b="1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Lagged</a:t>
            </a:r>
            <a:r>
              <a:rPr sz="8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29</a:t>
            </a:r>
            <a:endParaRPr sz="800" dirty="0">
              <a:latin typeface="Arial"/>
              <a:ea typeface="Arial"/>
              <a:cs typeface="Arial"/>
            </a:endParaRPr>
          </a:p>
          <a:p>
            <a:pPr marL="266065" algn="l" rtl="0" eaLnBrk="0">
              <a:lnSpc>
                <a:spcPts val="1071"/>
              </a:lnSpc>
              <a:tabLst/>
            </a:pP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days</a:t>
            </a:r>
            <a:r>
              <a:rPr sz="8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).</a:t>
            </a:r>
            <a:endParaRPr sz="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9050" algn="l" rtl="0" eaLnBrk="0">
              <a:lnSpc>
                <a:spcPts val="1174"/>
              </a:lnSpc>
              <a:spcBef>
                <a:spcPts val="277"/>
              </a:spcBef>
              <a:tabLst/>
            </a:pPr>
            <a:r>
              <a:rPr sz="1300" b="1" kern="0" spc="30" baseline="21597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Result:</a:t>
            </a:r>
            <a:r>
              <a:rPr sz="8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                                       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figure</a:t>
            </a:r>
            <a:r>
              <a:rPr sz="7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In-Sample</a:t>
            </a:r>
            <a:r>
              <a:rPr sz="700" kern="0" spc="2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Fit</a:t>
            </a:r>
            <a:r>
              <a:rPr sz="7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(Red)</a:t>
            </a:r>
            <a:r>
              <a:rPr sz="7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vs.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7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Actual</a:t>
            </a:r>
            <a:r>
              <a:rPr sz="7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(Black)</a:t>
            </a:r>
            <a:endParaRPr sz="700" dirty="0">
              <a:latin typeface="Arial"/>
              <a:ea typeface="Arial"/>
              <a:cs typeface="Arial"/>
            </a:endParaRPr>
          </a:p>
          <a:p>
            <a:pPr marL="198754" algn="l" rtl="0" eaLnBrk="0">
              <a:lnSpc>
                <a:spcPts val="1053"/>
              </a:lnSpc>
              <a:spcBef>
                <a:spcPts val="113"/>
              </a:spcBef>
              <a:tabLst>
                <a:tab pos="266700" algn="l"/>
              </a:tabLst>
            </a:pP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8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900" kern="0" spc="50" baseline="42244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5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=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0.824:  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High</a:t>
            </a:r>
            <a:r>
              <a:rPr sz="8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explanatory</a:t>
            </a:r>
            <a:r>
              <a:rPr sz="8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power</a:t>
            </a:r>
            <a:r>
              <a:rPr sz="8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endParaRPr sz="800" dirty="0">
              <a:latin typeface="Arial"/>
              <a:ea typeface="Arial"/>
              <a:cs typeface="Arial"/>
            </a:endParaRPr>
          </a:p>
        </p:txBody>
      </p:sp>
      <p:pic>
        <p:nvPicPr>
          <p:cNvPr id="268" name="picture 2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14528" y="2764624"/>
            <a:ext cx="59601" cy="59601"/>
          </a:xfrm>
          <a:prstGeom prst="rect">
            <a:avLst/>
          </a:prstGeom>
        </p:spPr>
      </p:pic>
      <p:pic>
        <p:nvPicPr>
          <p:cNvPr id="270" name="picture 27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14528" y="2065870"/>
            <a:ext cx="59601" cy="59601"/>
          </a:xfrm>
          <a:prstGeom prst="rect">
            <a:avLst/>
          </a:prstGeom>
        </p:spPr>
      </p:pic>
      <p:pic>
        <p:nvPicPr>
          <p:cNvPr id="272" name="picture 27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14528" y="1876081"/>
            <a:ext cx="59601" cy="59601"/>
          </a:xfrm>
          <a:prstGeom prst="rect">
            <a:avLst/>
          </a:prstGeom>
        </p:spPr>
      </p:pic>
      <p:pic>
        <p:nvPicPr>
          <p:cNvPr id="274" name="picture 27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14528" y="1686305"/>
            <a:ext cx="59601" cy="59601"/>
          </a:xfrm>
          <a:prstGeom prst="rect">
            <a:avLst/>
          </a:prstGeom>
        </p:spPr>
      </p:pic>
      <p:pic>
        <p:nvPicPr>
          <p:cNvPr id="276" name="picture 27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371444" y="871544"/>
            <a:ext cx="3304092" cy="1652046"/>
          </a:xfrm>
          <a:prstGeom prst="rect">
            <a:avLst/>
          </a:prstGeom>
        </p:spPr>
      </p:pic>
      <p:sp>
        <p:nvSpPr>
          <p:cNvPr id="278" name="textbox 278"/>
          <p:cNvSpPr/>
          <p:nvPr/>
        </p:nvSpPr>
        <p:spPr>
          <a:xfrm>
            <a:off x="0" y="0"/>
            <a:ext cx="5760084" cy="350520"/>
          </a:xfrm>
          <a:prstGeom prst="rect">
            <a:avLst/>
          </a:prstGeom>
          <a:solidFill>
            <a:srgbClr val="C5050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14300" algn="l" rtl="0" eaLnBrk="0">
              <a:lnSpc>
                <a:spcPct val="93000"/>
              </a:lnSpc>
              <a:tabLst/>
            </a:pPr>
            <a:r>
              <a:rPr sz="13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5.  Model</a:t>
            </a:r>
            <a:r>
              <a:rPr sz="1300" kern="0" spc="2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Performance:  Predictive </a:t>
            </a:r>
            <a:r>
              <a:rPr sz="13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Regression</a:t>
            </a:r>
            <a:endParaRPr sz="1300" dirty="0">
              <a:latin typeface="Arial"/>
              <a:ea typeface="Arial"/>
              <a:cs typeface="Arial"/>
            </a:endParaRPr>
          </a:p>
        </p:txBody>
      </p:sp>
      <p:sp>
        <p:nvSpPr>
          <p:cNvPr id="280" name="textbox 280"/>
          <p:cNvSpPr/>
          <p:nvPr/>
        </p:nvSpPr>
        <p:spPr>
          <a:xfrm>
            <a:off x="201828" y="2917310"/>
            <a:ext cx="2081529" cy="2800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8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71755" algn="l" rtl="0" eaLnBrk="0">
              <a:lnSpc>
                <a:spcPct val="94000"/>
              </a:lnSpc>
              <a:tabLst>
                <a:tab pos="140335" algn="l"/>
              </a:tabLst>
            </a:pP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8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Sentiment</a:t>
            </a:r>
            <a:r>
              <a:rPr sz="8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adds</a:t>
            </a:r>
            <a:r>
              <a:rPr sz="8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predictive</a:t>
            </a:r>
            <a:r>
              <a:rPr sz="8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value</a:t>
            </a:r>
            <a:r>
              <a:rPr sz="8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beyon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</a:t>
            </a:r>
            <a:endParaRPr sz="800" dirty="0">
              <a:latin typeface="Arial"/>
              <a:ea typeface="Arial"/>
              <a:cs typeface="Arial"/>
            </a:endParaRPr>
          </a:p>
          <a:p>
            <a:pPr marL="138429" algn="l" rtl="0" eaLnBrk="0">
              <a:lnSpc>
                <a:spcPct val="94000"/>
              </a:lnSpc>
              <a:spcBef>
                <a:spcPts val="194"/>
              </a:spcBef>
              <a:tabLst/>
            </a:pP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simple</a:t>
            </a:r>
            <a:r>
              <a:rPr sz="8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price</a:t>
            </a:r>
            <a:r>
              <a:rPr sz="8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momentum.</a:t>
            </a:r>
            <a:endParaRPr sz="800" dirty="0">
              <a:latin typeface="Arial"/>
              <a:ea typeface="Arial"/>
              <a:cs typeface="Arial"/>
            </a:endParaRPr>
          </a:p>
        </p:txBody>
      </p:sp>
      <p:pic>
        <p:nvPicPr>
          <p:cNvPr id="282" name="picture 28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214528" y="2954413"/>
            <a:ext cx="59601" cy="59601"/>
          </a:xfrm>
          <a:prstGeom prst="rect">
            <a:avLst/>
          </a:prstGeom>
        </p:spPr>
      </p:pic>
      <p:sp>
        <p:nvSpPr>
          <p:cNvPr id="284" name="rect 284"/>
          <p:cNvSpPr/>
          <p:nvPr/>
        </p:nvSpPr>
        <p:spPr>
          <a:xfrm>
            <a:off x="3839944" y="3148620"/>
            <a:ext cx="1919973" cy="91376"/>
          </a:xfrm>
          <a:prstGeom prst="rect">
            <a:avLst/>
          </a:prstGeom>
          <a:solidFill>
            <a:srgbClr val="D9D9D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86" name="rect 286"/>
          <p:cNvSpPr/>
          <p:nvPr/>
        </p:nvSpPr>
        <p:spPr>
          <a:xfrm>
            <a:off x="0" y="3148620"/>
            <a:ext cx="1919972" cy="91376"/>
          </a:xfrm>
          <a:prstGeom prst="rect">
            <a:avLst/>
          </a:prstGeom>
          <a:solidFill>
            <a:srgbClr val="78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88" name="rect 288"/>
          <p:cNvSpPr/>
          <p:nvPr/>
        </p:nvSpPr>
        <p:spPr>
          <a:xfrm>
            <a:off x="1919972" y="3148620"/>
            <a:ext cx="1919973" cy="91376"/>
          </a:xfrm>
          <a:prstGeom prst="rect">
            <a:avLst/>
          </a:prstGeom>
          <a:solidFill>
            <a:srgbClr val="ECECE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90" name="textbox 290"/>
          <p:cNvSpPr/>
          <p:nvPr/>
        </p:nvSpPr>
        <p:spPr>
          <a:xfrm>
            <a:off x="-12700" y="3142602"/>
            <a:ext cx="5785484" cy="1073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641"/>
              </a:lnSpc>
              <a:tabLst>
                <a:tab pos="789940" algn="l"/>
              </a:tabLst>
            </a:pPr>
            <a:r>
              <a:rPr sz="400" kern="0" spc="0" dirty="0">
                <a:solidFill>
                  <a:srgbClr val="F2F2F2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400" kern="0" spc="50" dirty="0">
                <a:solidFill>
                  <a:srgbClr val="F2F2F2">
                    <a:alpha val="100000"/>
                  </a:srgbClr>
                </a:solidFill>
                <a:latin typeface="Arial"/>
                <a:ea typeface="Arial"/>
                <a:cs typeface="Arial"/>
              </a:rPr>
              <a:t>(UW-Madiso</a:t>
            </a:r>
            <a:r>
              <a:rPr sz="400" kern="0" spc="40" dirty="0">
                <a:solidFill>
                  <a:srgbClr val="F2F2F2">
                    <a:alpha val="100000"/>
                  </a:srgbClr>
                </a:solidFill>
                <a:latin typeface="Arial"/>
                <a:ea typeface="Arial"/>
                <a:cs typeface="Arial"/>
              </a:rPr>
              <a:t>n)</a:t>
            </a:r>
            <a:r>
              <a:rPr sz="400" kern="0" spc="0" dirty="0">
                <a:solidFill>
                  <a:srgbClr val="F2F2F2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                                     </a:t>
            </a:r>
            <a:r>
              <a:rPr sz="400" kern="0" spc="40" dirty="0">
                <a:solidFill>
                  <a:srgbClr val="690000">
                    <a:alpha val="100000"/>
                  </a:srgbClr>
                </a:solidFill>
                <a:latin typeface="Arial"/>
                <a:ea typeface="Arial"/>
                <a:cs typeface="Arial"/>
                <a:hlinkClick r:id="rId8" action="ppaction://hlinksldjump">
                  <a:extLst>
                    <a:ext uri="{DAF060AB-1E55-43B9-8AAB-6FB025537F2F}">
                      <wpsdc:hlinkUnderline xmlns:wpsdc="http://www.wps.cn/officeDocument/2017/drawingmlCustomData" xmlns="" val="0"/>
                    </a:ext>
                  </a:extLst>
                </a:hlinkClick>
              </a:rPr>
              <a:t>Semantic</a:t>
            </a:r>
            <a:r>
              <a:rPr sz="400" kern="0" spc="140" dirty="0">
                <a:solidFill>
                  <a:srgbClr val="690000">
                    <a:alpha val="100000"/>
                  </a:srgbClr>
                </a:solidFill>
                <a:latin typeface="Arial"/>
                <a:ea typeface="Arial"/>
                <a:cs typeface="Arial"/>
                <a:hlinkClick r:id="rId8" action="ppaction://hlinksldjump">
                  <a:extLst>
                    <a:ext uri="{DAF060AB-1E55-43B9-8AAB-6FB025537F2F}">
                      <wpsdc:hlinkUnderline xmlns:wpsdc="http://www.wps.cn/officeDocument/2017/drawingmlCustomData" xmlns="" val="0"/>
                    </a:ext>
                  </a:extLst>
                </a:hlinkClick>
              </a:rPr>
              <a:t> </a:t>
            </a:r>
            <a:r>
              <a:rPr sz="400" kern="0" spc="40" dirty="0">
                <a:solidFill>
                  <a:srgbClr val="690000">
                    <a:alpha val="100000"/>
                  </a:srgbClr>
                </a:solidFill>
                <a:latin typeface="Arial"/>
                <a:ea typeface="Arial"/>
                <a:cs typeface="Arial"/>
                <a:hlinkClick r:id="rId8" action="ppaction://hlinksldjump">
                  <a:extLst>
                    <a:ext uri="{DAF060AB-1E55-43B9-8AAB-6FB025537F2F}">
                      <wpsdc:hlinkUnderline xmlns:wpsdc="http://www.wps.cn/officeDocument/2017/drawingmlCustomData" xmlns="" val="0"/>
                    </a:ext>
                  </a:extLst>
                </a:hlinkClick>
              </a:rPr>
              <a:t>Sentiment</a:t>
            </a:r>
            <a:r>
              <a:rPr sz="400" kern="0" spc="90" dirty="0">
                <a:solidFill>
                  <a:srgbClr val="690000">
                    <a:alpha val="100000"/>
                  </a:srgbClr>
                </a:solidFill>
                <a:latin typeface="Arial"/>
                <a:ea typeface="Arial"/>
                <a:cs typeface="Arial"/>
                <a:hlinkClick r:id="rId8" action="ppaction://hlinksldjump">
                  <a:extLst>
                    <a:ext uri="{DAF060AB-1E55-43B9-8AAB-6FB025537F2F}">
                      <wpsdc:hlinkUnderline xmlns:wpsdc="http://www.wps.cn/officeDocument/2017/drawingmlCustomData" xmlns="" val="0"/>
                    </a:ext>
                  </a:extLst>
                </a:hlinkClick>
              </a:rPr>
              <a:t> </a:t>
            </a:r>
            <a:r>
              <a:rPr sz="400" kern="0" spc="40" dirty="0">
                <a:solidFill>
                  <a:srgbClr val="690000">
                    <a:alpha val="100000"/>
                  </a:srgbClr>
                </a:solidFill>
                <a:latin typeface="Arial"/>
                <a:ea typeface="Arial"/>
                <a:cs typeface="Arial"/>
                <a:hlinkClick r:id="rId8" action="ppaction://hlinksldjump">
                  <a:extLst>
                    <a:ext uri="{DAF060AB-1E55-43B9-8AAB-6FB025537F2F}">
                      <wpsdc:hlinkUnderline xmlns:wpsdc="http://www.wps.cn/officeDocument/2017/drawingmlCustomData" xmlns="" val="0"/>
                    </a:ext>
                  </a:extLst>
                </a:hlinkClick>
              </a:rPr>
              <a:t>&amp;</a:t>
            </a:r>
            <a:r>
              <a:rPr sz="400" kern="0" spc="100" dirty="0">
                <a:solidFill>
                  <a:srgbClr val="690000">
                    <a:alpha val="100000"/>
                  </a:srgbClr>
                </a:solidFill>
                <a:latin typeface="Arial"/>
                <a:ea typeface="Arial"/>
                <a:cs typeface="Arial"/>
                <a:hlinkClick r:id="rId8" action="ppaction://hlinksldjump">
                  <a:extLst>
                    <a:ext uri="{DAF060AB-1E55-43B9-8AAB-6FB025537F2F}">
                      <wpsdc:hlinkUnderline xmlns:wpsdc="http://www.wps.cn/officeDocument/2017/drawingmlCustomData" xmlns="" val="0"/>
                    </a:ext>
                  </a:extLst>
                </a:hlinkClick>
              </a:rPr>
              <a:t> </a:t>
            </a:r>
            <a:r>
              <a:rPr sz="400" kern="0" spc="40" dirty="0">
                <a:solidFill>
                  <a:srgbClr val="690000">
                    <a:alpha val="100000"/>
                  </a:srgbClr>
                </a:solidFill>
                <a:latin typeface="Arial"/>
                <a:ea typeface="Arial"/>
                <a:cs typeface="Arial"/>
                <a:hlinkClick r:id="rId8" action="ppaction://hlinksldjump">
                  <a:extLst>
                    <a:ext uri="{DAF060AB-1E55-43B9-8AAB-6FB025537F2F}">
                      <wpsdc:hlinkUnderline xmlns:wpsdc="http://www.wps.cn/officeDocument/2017/drawingmlCustomData" xmlns="" val="0"/>
                    </a:ext>
                  </a:extLst>
                </a:hlinkClick>
              </a:rPr>
              <a:t>Crypto</a:t>
            </a:r>
            <a:r>
              <a:rPr sz="400" kern="0" spc="0" dirty="0">
                <a:solidFill>
                  <a:srgbClr val="69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                              </a:t>
            </a:r>
            <a:r>
              <a:rPr sz="400" kern="0" spc="40" dirty="0">
                <a:solidFill>
                  <a:srgbClr val="5A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December</a:t>
            </a:r>
            <a:r>
              <a:rPr sz="400" kern="0" spc="140" dirty="0">
                <a:solidFill>
                  <a:srgbClr val="5A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00" kern="0" spc="40" dirty="0">
                <a:solidFill>
                  <a:srgbClr val="5A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9,</a:t>
            </a:r>
            <a:r>
              <a:rPr sz="400" kern="0" spc="90" dirty="0">
                <a:solidFill>
                  <a:srgbClr val="5A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00" kern="0" spc="40" dirty="0">
                <a:solidFill>
                  <a:srgbClr val="5A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</a:t>
            </a:r>
            <a:r>
              <a:rPr sz="400" kern="0" spc="0" dirty="0">
                <a:solidFill>
                  <a:srgbClr val="5A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</a:t>
            </a:r>
            <a:r>
              <a:rPr sz="400" kern="0" spc="40" dirty="0">
                <a:solidFill>
                  <a:srgbClr val="5A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13 / 15         </a:t>
            </a:r>
            <a:endParaRPr sz="4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2" name="table 292"/>
          <p:cNvGraphicFramePr>
            <a:graphicFrameLocks noGrp="1"/>
          </p:cNvGraphicFramePr>
          <p:nvPr/>
        </p:nvGraphicFramePr>
        <p:xfrm>
          <a:off x="75729" y="1659978"/>
          <a:ext cx="5659120" cy="835024"/>
        </p:xfrm>
        <a:graphic>
          <a:graphicData uri="http://schemas.openxmlformats.org/drawingml/2006/table">
            <a:tbl>
              <a:tblPr/>
              <a:tblGrid>
                <a:gridCol w="5659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240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4135" algn="l" rtl="0" eaLnBrk="0">
                        <a:lnSpc>
                          <a:spcPct val="91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Phase</a:t>
                      </a:r>
                      <a:r>
                        <a:rPr sz="1100" kern="0" spc="1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1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3:</a:t>
                      </a:r>
                      <a:r>
                        <a:rPr sz="1100" kern="0" spc="2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1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Advanced</a:t>
                      </a:r>
                      <a:r>
                        <a:rPr sz="1100" kern="0" spc="1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1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Architecture</a:t>
                      </a:r>
                      <a:r>
                        <a:rPr sz="1100" kern="0" spc="1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1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(TFT)</a:t>
                      </a:r>
                      <a:endParaRPr sz="11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96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96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26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0029" algn="l" rtl="0" eaLnBrk="0">
                        <a:lnSpc>
                          <a:spcPct val="95000"/>
                        </a:lnSpc>
                        <a:tabLst>
                          <a:tab pos="314959" algn="l"/>
                        </a:tabLst>
                      </a:pP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	Model</a:t>
                      </a:r>
                      <a:r>
                        <a:rPr sz="9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:  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Implement</a:t>
                      </a:r>
                      <a:r>
                        <a:rPr sz="900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Temporal</a:t>
                      </a:r>
                      <a:r>
                        <a:rPr sz="900" b="1" kern="0" spc="2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Fusion</a:t>
                      </a:r>
                      <a:r>
                        <a:rPr sz="900" b="1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Transformers</a:t>
                      </a:r>
                      <a:r>
                        <a:rPr sz="900" b="1" kern="0" spc="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(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Google</a:t>
                      </a:r>
                      <a:r>
                        <a:rPr sz="9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,</a:t>
                      </a:r>
                      <a:r>
                        <a:rPr sz="900" b="1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2021)</a:t>
                      </a:r>
                      <a:r>
                        <a:rPr sz="9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.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0515" indent="-70485" algn="l" rtl="0" eaLnBrk="0">
                        <a:lnSpc>
                          <a:spcPct val="104000"/>
                        </a:lnSpc>
                        <a:spcBef>
                          <a:spcPts val="2"/>
                        </a:spcBef>
                        <a:tabLst>
                          <a:tab pos="306704" algn="l"/>
                        </a:tabLst>
                      </a:pP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	</a:t>
                      </a:r>
                      <a:r>
                        <a:rPr sz="9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Why?</a:t>
                      </a:r>
                      <a:r>
                        <a:rPr sz="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9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unlike</a:t>
                      </a:r>
                      <a:r>
                        <a:rPr sz="9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”Black</a:t>
                      </a:r>
                      <a:r>
                        <a:rPr sz="900" kern="0" spc="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Box”</a:t>
                      </a:r>
                      <a:r>
                        <a:rPr sz="900" kern="0" spc="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LSTM,</a:t>
                      </a:r>
                      <a:r>
                        <a:rPr sz="9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TFT</a:t>
                      </a:r>
                      <a:r>
                        <a:rPr sz="900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provides</a:t>
                      </a:r>
                      <a:r>
                        <a:rPr sz="900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Interpretability</a:t>
                      </a:r>
                      <a:r>
                        <a:rPr sz="900" b="1" kern="0" spc="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(Attention</a:t>
                      </a:r>
                      <a:r>
                        <a:rPr sz="9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Weights)</a:t>
                      </a:r>
                      <a:r>
                        <a:rPr sz="9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and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        </a:t>
                      </a:r>
                      <a:r>
                        <a:rPr sz="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Quantile</a:t>
                      </a:r>
                      <a:r>
                        <a:rPr sz="900" b="1" kern="0" spc="2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Forecasting</a:t>
                      </a:r>
                      <a:r>
                        <a:rPr sz="900" b="1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(Risk</a:t>
                      </a:r>
                      <a:r>
                        <a:rPr sz="900" kern="0" spc="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Intervals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).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4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4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F4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94" name="picture 29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56705" y="2154707"/>
            <a:ext cx="59601" cy="59601"/>
          </a:xfrm>
          <a:prstGeom prst="rect">
            <a:avLst/>
          </a:prstGeom>
        </p:spPr>
      </p:pic>
      <p:pic>
        <p:nvPicPr>
          <p:cNvPr id="296" name="picture 29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56705" y="1964918"/>
            <a:ext cx="59601" cy="59601"/>
          </a:xfrm>
          <a:prstGeom prst="rect">
            <a:avLst/>
          </a:prstGeom>
        </p:spPr>
      </p:pic>
      <p:graphicFrame>
        <p:nvGraphicFramePr>
          <p:cNvPr id="298" name="table 298"/>
          <p:cNvGraphicFramePr>
            <a:graphicFrameLocks noGrp="1"/>
          </p:cNvGraphicFramePr>
          <p:nvPr/>
        </p:nvGraphicFramePr>
        <p:xfrm>
          <a:off x="75729" y="937004"/>
          <a:ext cx="5659120" cy="659765"/>
        </p:xfrm>
        <a:graphic>
          <a:graphicData uri="http://schemas.openxmlformats.org/drawingml/2006/table">
            <a:tbl>
              <a:tblPr/>
              <a:tblGrid>
                <a:gridCol w="5659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4135" algn="l" rtl="0" eaLnBrk="0">
                        <a:lnSpc>
                          <a:spcPct val="91000"/>
                        </a:lnSpc>
                        <a:tabLst/>
                      </a:pPr>
                      <a:r>
                        <a:rPr sz="1100" kern="0" spc="-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Phase</a:t>
                      </a:r>
                      <a:r>
                        <a:rPr sz="1100" kern="0" spc="19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100" kern="0" spc="-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2:  High-Frequency</a:t>
                      </a:r>
                      <a:r>
                        <a:rPr sz="1100" kern="0" spc="1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100" kern="0" spc="-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Scale</a:t>
                      </a:r>
                      <a:r>
                        <a:rPr sz="1100" kern="0" spc="19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100" kern="0" spc="-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Up</a:t>
                      </a:r>
                      <a:endParaRPr sz="11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96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96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86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4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4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F4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00" name="table 300"/>
          <p:cNvGraphicFramePr>
            <a:graphicFrameLocks noGrp="1"/>
          </p:cNvGraphicFramePr>
          <p:nvPr/>
        </p:nvGraphicFramePr>
        <p:xfrm>
          <a:off x="75729" y="2558692"/>
          <a:ext cx="5659120" cy="657223"/>
        </p:xfrm>
        <a:graphic>
          <a:graphicData uri="http://schemas.openxmlformats.org/drawingml/2006/table">
            <a:tbl>
              <a:tblPr/>
              <a:tblGrid>
                <a:gridCol w="5659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573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7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4135" algn="l" rtl="0" eaLnBrk="0">
                        <a:lnSpc>
                          <a:spcPct val="73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Phase</a:t>
                      </a:r>
                      <a:r>
                        <a:rPr sz="1100" kern="0" spc="1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1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4:  Economic</a:t>
                      </a:r>
                      <a:r>
                        <a:rPr sz="1100" kern="0" spc="1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1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Va</a:t>
                      </a:r>
                      <a:r>
                        <a:rPr sz="1100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lidation</a:t>
                      </a:r>
                      <a:endParaRPr sz="11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96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96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148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4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4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F4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2" name="textbox 302"/>
          <p:cNvSpPr/>
          <p:nvPr/>
        </p:nvSpPr>
        <p:spPr>
          <a:xfrm>
            <a:off x="75729" y="2778138"/>
            <a:ext cx="5608954" cy="387350"/>
          </a:xfrm>
          <a:prstGeom prst="rect">
            <a:avLst/>
          </a:prstGeom>
          <a:solidFill>
            <a:srgbClr val="F4E6E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40029" algn="l" rtl="0" eaLnBrk="0">
              <a:lnSpc>
                <a:spcPts val="1133"/>
              </a:lnSpc>
              <a:spcBef>
                <a:spcPts val="1"/>
              </a:spcBef>
              <a:tabLst>
                <a:tab pos="316229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Move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beyond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1000" kern="0" spc="20" baseline="39189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6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.  Implement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900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Long/Short</a:t>
            </a:r>
            <a:r>
              <a:rPr sz="900" b="1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Trading</a:t>
            </a:r>
            <a:r>
              <a:rPr sz="900" b="1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Strategy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304" name="picture 30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56705" y="2844315"/>
            <a:ext cx="59601" cy="59601"/>
          </a:xfrm>
          <a:prstGeom prst="rect">
            <a:avLst/>
          </a:prstGeom>
        </p:spPr>
      </p:pic>
      <p:sp>
        <p:nvSpPr>
          <p:cNvPr id="306" name="textbox 306"/>
          <p:cNvSpPr/>
          <p:nvPr/>
        </p:nvSpPr>
        <p:spPr>
          <a:xfrm>
            <a:off x="75729" y="1167000"/>
            <a:ext cx="5608954" cy="379095"/>
          </a:xfrm>
          <a:prstGeom prst="rect">
            <a:avLst/>
          </a:prstGeom>
          <a:solidFill>
            <a:srgbClr val="F4E6E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59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40029" algn="l" rtl="0" eaLnBrk="0">
              <a:lnSpc>
                <a:spcPct val="93000"/>
              </a:lnSpc>
              <a:tabLst>
                <a:tab pos="314959" algn="l"/>
              </a:tabLst>
            </a:pP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Data</a:t>
            </a:r>
            <a:r>
              <a:rPr sz="900" b="1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:</a:t>
            </a:r>
            <a:r>
              <a:rPr sz="900" b="1" kern="0" spc="2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Acquire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minute</a:t>
            </a: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level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tweets</a:t>
            </a: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price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data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(N</a:t>
            </a:r>
            <a:r>
              <a:rPr sz="9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&gt; 20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0,</a:t>
            </a: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000).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0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240029" algn="l" rtl="0" eaLnBrk="0">
              <a:lnSpc>
                <a:spcPct val="95000"/>
              </a:lnSpc>
              <a:spcBef>
                <a:spcPts val="1"/>
              </a:spcBef>
              <a:tabLst>
                <a:tab pos="311150" algn="l"/>
              </a:tabLst>
            </a:pP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Goal: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Capture</a:t>
            </a:r>
            <a:r>
              <a:rPr sz="900" kern="0" spc="1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Intraday</a:t>
            </a:r>
            <a:r>
              <a:rPr sz="900" b="1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Volatility</a:t>
            </a:r>
            <a:r>
              <a:rPr sz="900" b="1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market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microstructure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that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daily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aggr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egation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misses.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308" name="picture 30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56705" y="1414855"/>
            <a:ext cx="59601" cy="59601"/>
          </a:xfrm>
          <a:prstGeom prst="rect">
            <a:avLst/>
          </a:prstGeom>
        </p:spPr>
      </p:pic>
      <p:pic>
        <p:nvPicPr>
          <p:cNvPr id="310" name="picture 3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56705" y="1225066"/>
            <a:ext cx="59601" cy="59601"/>
          </a:xfrm>
          <a:prstGeom prst="rect">
            <a:avLst/>
          </a:prstGeom>
        </p:spPr>
      </p:pic>
      <p:sp>
        <p:nvSpPr>
          <p:cNvPr id="312" name="textbox 312"/>
          <p:cNvSpPr/>
          <p:nvPr/>
        </p:nvSpPr>
        <p:spPr>
          <a:xfrm>
            <a:off x="0" y="0"/>
            <a:ext cx="5760084" cy="350520"/>
          </a:xfrm>
          <a:prstGeom prst="rect">
            <a:avLst/>
          </a:prstGeom>
          <a:solidFill>
            <a:srgbClr val="C5050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15570" algn="l" rtl="0" eaLnBrk="0">
              <a:lnSpc>
                <a:spcPct val="86000"/>
              </a:lnSpc>
              <a:spcBef>
                <a:spcPts val="6"/>
              </a:spcBef>
              <a:tabLst/>
            </a:pPr>
            <a:r>
              <a:rPr sz="1400" kern="0" spc="-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6.  Future</a:t>
            </a:r>
            <a:r>
              <a:rPr sz="1400" kern="0" spc="2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Roadmap:  From</a:t>
            </a:r>
            <a:r>
              <a:rPr sz="1400" kern="0" spc="2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Prediction</a:t>
            </a:r>
            <a:r>
              <a:rPr sz="1400" kern="0" spc="1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to</a:t>
            </a:r>
            <a:r>
              <a:rPr sz="1400" kern="0" spc="2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Pr</a:t>
            </a:r>
            <a:r>
              <a:rPr sz="1400" kern="0" spc="-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ofit</a:t>
            </a:r>
            <a:endParaRPr sz="1400" dirty="0">
              <a:latin typeface="Arial"/>
              <a:ea typeface="Arial"/>
              <a:cs typeface="Arial"/>
            </a:endParaRPr>
          </a:p>
        </p:txBody>
      </p:sp>
      <p:sp>
        <p:nvSpPr>
          <p:cNvPr id="314" name="textbox 314"/>
          <p:cNvSpPr/>
          <p:nvPr/>
        </p:nvSpPr>
        <p:spPr>
          <a:xfrm>
            <a:off x="121548" y="424845"/>
            <a:ext cx="5520054" cy="3086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760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875" indent="-3810" algn="l" rtl="0" eaLnBrk="0">
              <a:lnSpc>
                <a:spcPct val="104000"/>
              </a:lnSpc>
              <a:tabLst/>
            </a:pP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Current</a:t>
            </a:r>
            <a:r>
              <a:rPr sz="900" b="1" kern="0" spc="2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Limitation</a:t>
            </a:r>
            <a:r>
              <a:rPr sz="900" b="1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: 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Daily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data</a:t>
            </a:r>
            <a:r>
              <a:rPr sz="9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(N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≈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150)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creates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”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Small</a:t>
            </a:r>
            <a:r>
              <a:rPr sz="900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Data</a:t>
            </a: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”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problem</a:t>
            </a: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for</a:t>
            </a:r>
            <a:r>
              <a:rPr sz="900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Deep</a:t>
            </a:r>
            <a:r>
              <a:rPr sz="900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Learning</a:t>
            </a: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causing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LSTM</a:t>
            </a: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to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converge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linear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mean</a:t>
            </a:r>
            <a:r>
              <a:rPr sz="900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(Underfitting).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316" name="textbox 316"/>
          <p:cNvSpPr/>
          <p:nvPr/>
        </p:nvSpPr>
        <p:spPr>
          <a:xfrm>
            <a:off x="63029" y="2984843"/>
            <a:ext cx="5634354" cy="193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54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5405" algn="l" rtl="0" eaLnBrk="0">
              <a:lnSpc>
                <a:spcPct val="95000"/>
              </a:lnSpc>
              <a:tabLst>
                <a:tab pos="193675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Evaluate</a:t>
            </a:r>
            <a:r>
              <a:rPr sz="900" kern="0" spc="1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performance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using</a:t>
            </a:r>
            <a:r>
              <a:rPr sz="9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Sharpe</a:t>
            </a:r>
            <a:r>
              <a:rPr sz="900" b="1" kern="0" spc="2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Ratio</a:t>
            </a:r>
            <a:r>
              <a:rPr sz="900" b="1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900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Max</a:t>
            </a:r>
            <a:r>
              <a:rPr sz="900" b="1" kern="0" spc="2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Drawdown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.                        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318" name="picture 3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5600294" y="3111927"/>
            <a:ext cx="53331" cy="53330"/>
          </a:xfrm>
          <a:prstGeom prst="rect">
            <a:avLst/>
          </a:prstGeom>
        </p:spPr>
      </p:pic>
      <p:pic>
        <p:nvPicPr>
          <p:cNvPr id="320" name="picture 3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256705" y="3034104"/>
            <a:ext cx="59601" cy="59601"/>
          </a:xfrm>
          <a:prstGeom prst="rect">
            <a:avLst/>
          </a:prstGeom>
        </p:spPr>
      </p:pic>
      <p:pic>
        <p:nvPicPr>
          <p:cNvPr id="322" name="picture 32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75729" y="3111927"/>
            <a:ext cx="53331" cy="53330"/>
          </a:xfrm>
          <a:prstGeom prst="rect">
            <a:avLst/>
          </a:prstGeom>
        </p:spPr>
      </p:pic>
      <p:sp>
        <p:nvSpPr>
          <p:cNvPr id="324" name="rect 324"/>
          <p:cNvSpPr/>
          <p:nvPr/>
        </p:nvSpPr>
        <p:spPr>
          <a:xfrm>
            <a:off x="1919973" y="3148620"/>
            <a:ext cx="1919973" cy="91376"/>
          </a:xfrm>
          <a:prstGeom prst="rect">
            <a:avLst/>
          </a:prstGeom>
          <a:solidFill>
            <a:srgbClr val="ECECE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26" name="rect 326"/>
          <p:cNvSpPr/>
          <p:nvPr/>
        </p:nvSpPr>
        <p:spPr>
          <a:xfrm>
            <a:off x="3839946" y="3148620"/>
            <a:ext cx="1919973" cy="91376"/>
          </a:xfrm>
          <a:prstGeom prst="rect">
            <a:avLst/>
          </a:prstGeom>
          <a:solidFill>
            <a:srgbClr val="D9D9D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28" name="rect 328"/>
          <p:cNvSpPr/>
          <p:nvPr/>
        </p:nvSpPr>
        <p:spPr>
          <a:xfrm>
            <a:off x="0" y="3148620"/>
            <a:ext cx="1919973" cy="91376"/>
          </a:xfrm>
          <a:prstGeom prst="rect">
            <a:avLst/>
          </a:prstGeom>
          <a:solidFill>
            <a:srgbClr val="78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30" name="textbox 330"/>
          <p:cNvSpPr/>
          <p:nvPr/>
        </p:nvSpPr>
        <p:spPr>
          <a:xfrm>
            <a:off x="-12699" y="3142602"/>
            <a:ext cx="5785484" cy="1073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641"/>
              </a:lnSpc>
              <a:tabLst>
                <a:tab pos="789940" algn="l"/>
              </a:tabLst>
            </a:pPr>
            <a:r>
              <a:rPr sz="400" kern="0" spc="0" dirty="0">
                <a:solidFill>
                  <a:srgbClr val="F2F2F2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400" kern="0" spc="50" dirty="0">
                <a:solidFill>
                  <a:srgbClr val="F2F2F2">
                    <a:alpha val="100000"/>
                  </a:srgbClr>
                </a:solidFill>
                <a:latin typeface="Arial"/>
                <a:ea typeface="Arial"/>
                <a:cs typeface="Arial"/>
              </a:rPr>
              <a:t>(UW-Madiso</a:t>
            </a:r>
            <a:r>
              <a:rPr sz="400" kern="0" spc="40" dirty="0">
                <a:solidFill>
                  <a:srgbClr val="F2F2F2">
                    <a:alpha val="100000"/>
                  </a:srgbClr>
                </a:solidFill>
                <a:latin typeface="Arial"/>
                <a:ea typeface="Arial"/>
                <a:cs typeface="Arial"/>
              </a:rPr>
              <a:t>n)</a:t>
            </a:r>
            <a:r>
              <a:rPr sz="400" kern="0" spc="0" dirty="0">
                <a:solidFill>
                  <a:srgbClr val="F2F2F2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                                     </a:t>
            </a:r>
            <a:r>
              <a:rPr sz="400" kern="0" spc="40" dirty="0">
                <a:solidFill>
                  <a:srgbClr val="690000">
                    <a:alpha val="100000"/>
                  </a:srgbClr>
                </a:solidFill>
                <a:latin typeface="Arial"/>
                <a:ea typeface="Arial"/>
                <a:cs typeface="Arial"/>
                <a:hlinkClick r:id="rId10" action="ppaction://hlinksldjump">
                  <a:extLst>
                    <a:ext uri="{DAF060AB-1E55-43B9-8AAB-6FB025537F2F}">
                      <wpsdc:hlinkUnderline xmlns:wpsdc="http://www.wps.cn/officeDocument/2017/drawingmlCustomData" xmlns="" val="0"/>
                    </a:ext>
                  </a:extLst>
                </a:hlinkClick>
              </a:rPr>
              <a:t>Semantic</a:t>
            </a:r>
            <a:r>
              <a:rPr sz="400" kern="0" spc="140" dirty="0">
                <a:solidFill>
                  <a:srgbClr val="690000">
                    <a:alpha val="100000"/>
                  </a:srgbClr>
                </a:solidFill>
                <a:latin typeface="Arial"/>
                <a:ea typeface="Arial"/>
                <a:cs typeface="Arial"/>
                <a:hlinkClick r:id="rId10" action="ppaction://hlinksldjump">
                  <a:extLst>
                    <a:ext uri="{DAF060AB-1E55-43B9-8AAB-6FB025537F2F}">
                      <wpsdc:hlinkUnderline xmlns:wpsdc="http://www.wps.cn/officeDocument/2017/drawingmlCustomData" xmlns="" val="0"/>
                    </a:ext>
                  </a:extLst>
                </a:hlinkClick>
              </a:rPr>
              <a:t> </a:t>
            </a:r>
            <a:r>
              <a:rPr sz="400" kern="0" spc="40" dirty="0">
                <a:solidFill>
                  <a:srgbClr val="690000">
                    <a:alpha val="100000"/>
                  </a:srgbClr>
                </a:solidFill>
                <a:latin typeface="Arial"/>
                <a:ea typeface="Arial"/>
                <a:cs typeface="Arial"/>
                <a:hlinkClick r:id="rId10" action="ppaction://hlinksldjump">
                  <a:extLst>
                    <a:ext uri="{DAF060AB-1E55-43B9-8AAB-6FB025537F2F}">
                      <wpsdc:hlinkUnderline xmlns:wpsdc="http://www.wps.cn/officeDocument/2017/drawingmlCustomData" xmlns="" val="0"/>
                    </a:ext>
                  </a:extLst>
                </a:hlinkClick>
              </a:rPr>
              <a:t>Sentiment</a:t>
            </a:r>
            <a:r>
              <a:rPr sz="400" kern="0" spc="90" dirty="0">
                <a:solidFill>
                  <a:srgbClr val="690000">
                    <a:alpha val="100000"/>
                  </a:srgbClr>
                </a:solidFill>
                <a:latin typeface="Arial"/>
                <a:ea typeface="Arial"/>
                <a:cs typeface="Arial"/>
                <a:hlinkClick r:id="rId10" action="ppaction://hlinksldjump">
                  <a:extLst>
                    <a:ext uri="{DAF060AB-1E55-43B9-8AAB-6FB025537F2F}">
                      <wpsdc:hlinkUnderline xmlns:wpsdc="http://www.wps.cn/officeDocument/2017/drawingmlCustomData" xmlns="" val="0"/>
                    </a:ext>
                  </a:extLst>
                </a:hlinkClick>
              </a:rPr>
              <a:t> </a:t>
            </a:r>
            <a:r>
              <a:rPr sz="400" kern="0" spc="40" dirty="0">
                <a:solidFill>
                  <a:srgbClr val="690000">
                    <a:alpha val="100000"/>
                  </a:srgbClr>
                </a:solidFill>
                <a:latin typeface="Arial"/>
                <a:ea typeface="Arial"/>
                <a:cs typeface="Arial"/>
                <a:hlinkClick r:id="rId10" action="ppaction://hlinksldjump">
                  <a:extLst>
                    <a:ext uri="{DAF060AB-1E55-43B9-8AAB-6FB025537F2F}">
                      <wpsdc:hlinkUnderline xmlns:wpsdc="http://www.wps.cn/officeDocument/2017/drawingmlCustomData" xmlns="" val="0"/>
                    </a:ext>
                  </a:extLst>
                </a:hlinkClick>
              </a:rPr>
              <a:t>&amp;</a:t>
            </a:r>
            <a:r>
              <a:rPr sz="400" kern="0" spc="100" dirty="0">
                <a:solidFill>
                  <a:srgbClr val="690000">
                    <a:alpha val="100000"/>
                  </a:srgbClr>
                </a:solidFill>
                <a:latin typeface="Arial"/>
                <a:ea typeface="Arial"/>
                <a:cs typeface="Arial"/>
                <a:hlinkClick r:id="rId10" action="ppaction://hlinksldjump">
                  <a:extLst>
                    <a:ext uri="{DAF060AB-1E55-43B9-8AAB-6FB025537F2F}">
                      <wpsdc:hlinkUnderline xmlns:wpsdc="http://www.wps.cn/officeDocument/2017/drawingmlCustomData" xmlns="" val="0"/>
                    </a:ext>
                  </a:extLst>
                </a:hlinkClick>
              </a:rPr>
              <a:t> </a:t>
            </a:r>
            <a:r>
              <a:rPr sz="400" kern="0" spc="40" dirty="0">
                <a:solidFill>
                  <a:srgbClr val="690000">
                    <a:alpha val="100000"/>
                  </a:srgbClr>
                </a:solidFill>
                <a:latin typeface="Arial"/>
                <a:ea typeface="Arial"/>
                <a:cs typeface="Arial"/>
                <a:hlinkClick r:id="rId10" action="ppaction://hlinksldjump">
                  <a:extLst>
                    <a:ext uri="{DAF060AB-1E55-43B9-8AAB-6FB025537F2F}">
                      <wpsdc:hlinkUnderline xmlns:wpsdc="http://www.wps.cn/officeDocument/2017/drawingmlCustomData" xmlns="" val="0"/>
                    </a:ext>
                  </a:extLst>
                </a:hlinkClick>
              </a:rPr>
              <a:t>Crypto</a:t>
            </a:r>
            <a:r>
              <a:rPr sz="400" kern="0" spc="0" dirty="0">
                <a:solidFill>
                  <a:srgbClr val="69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                              </a:t>
            </a:r>
            <a:r>
              <a:rPr sz="400" kern="0" spc="40" dirty="0">
                <a:solidFill>
                  <a:srgbClr val="5A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December</a:t>
            </a:r>
            <a:r>
              <a:rPr sz="400" kern="0" spc="140" dirty="0">
                <a:solidFill>
                  <a:srgbClr val="5A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00" kern="0" spc="40" dirty="0">
                <a:solidFill>
                  <a:srgbClr val="5A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9,</a:t>
            </a:r>
            <a:r>
              <a:rPr sz="400" kern="0" spc="90" dirty="0">
                <a:solidFill>
                  <a:srgbClr val="5A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00" kern="0" spc="40" dirty="0">
                <a:solidFill>
                  <a:srgbClr val="5A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</a:t>
            </a:r>
            <a:r>
              <a:rPr sz="400" kern="0" spc="0" dirty="0">
                <a:solidFill>
                  <a:srgbClr val="5A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</a:t>
            </a:r>
            <a:r>
              <a:rPr sz="400" kern="0" spc="40" dirty="0">
                <a:solidFill>
                  <a:srgbClr val="5A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14 / 15         </a:t>
            </a:r>
            <a:endParaRPr sz="4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textbox 332"/>
          <p:cNvSpPr/>
          <p:nvPr/>
        </p:nvSpPr>
        <p:spPr>
          <a:xfrm>
            <a:off x="2030380" y="916720"/>
            <a:ext cx="1711325" cy="1057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3000"/>
              </a:lnSpc>
              <a:tabLst/>
            </a:pPr>
            <a:r>
              <a:rPr sz="24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Thank</a:t>
            </a:r>
            <a:r>
              <a:rPr sz="2400" b="1" kern="0" spc="3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You!</a:t>
            </a:r>
            <a:endParaRPr sz="24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568959" algn="l" rtl="0" eaLnBrk="0">
              <a:lnSpc>
                <a:spcPct val="93000"/>
              </a:lnSpc>
              <a:spcBef>
                <a:spcPts val="1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Questions?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grpSp>
        <p:nvGrpSpPr>
          <p:cNvPr id="28" name="group 28"/>
          <p:cNvGrpSpPr/>
          <p:nvPr/>
        </p:nvGrpSpPr>
        <p:grpSpPr>
          <a:xfrm rot="21600000">
            <a:off x="0" y="3148621"/>
            <a:ext cx="5759919" cy="91376"/>
            <a:chOff x="0" y="0"/>
            <a:chExt cx="5759919" cy="91376"/>
          </a:xfrm>
        </p:grpSpPr>
        <p:pic>
          <p:nvPicPr>
            <p:cNvPr id="334" name="picture 33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5759919" cy="91376"/>
            </a:xfrm>
            <a:prstGeom prst="rect">
              <a:avLst/>
            </a:prstGeom>
          </p:spPr>
        </p:pic>
        <p:sp>
          <p:nvSpPr>
            <p:cNvPr id="336" name="textbox 336"/>
            <p:cNvSpPr/>
            <p:nvPr/>
          </p:nvSpPr>
          <p:spPr>
            <a:xfrm>
              <a:off x="-12700" y="-12699"/>
              <a:ext cx="5785484" cy="11683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700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789940" algn="l" rtl="0" eaLnBrk="0">
                <a:lnSpc>
                  <a:spcPts val="641"/>
                </a:lnSpc>
                <a:tabLst/>
              </a:pPr>
              <a:r>
                <a:rPr sz="400" kern="0" spc="50" dirty="0">
                  <a:solidFill>
                    <a:srgbClr val="F2F2F2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(UW-Madison)</a:t>
              </a:r>
              <a:r>
                <a:rPr sz="400" kern="0" spc="0" dirty="0">
                  <a:solidFill>
                    <a:srgbClr val="F2F2F2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                                                                          </a:t>
              </a:r>
              <a:r>
                <a:rPr sz="400" kern="0" spc="5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3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Semantic</a:t>
              </a:r>
              <a:r>
                <a:rPr sz="400" kern="0" spc="14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3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 </a:t>
              </a:r>
              <a:r>
                <a:rPr sz="400" kern="0" spc="5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3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Sentimen</a:t>
              </a:r>
              <a:r>
                <a:rPr sz="400" kern="0" spc="4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3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t</a:t>
              </a:r>
              <a:r>
                <a:rPr sz="400" kern="0" spc="9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3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 </a:t>
              </a:r>
              <a:r>
                <a:rPr sz="400" kern="0" spc="4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3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&amp;</a:t>
              </a:r>
              <a:r>
                <a:rPr sz="400" kern="0" spc="10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3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 </a:t>
              </a:r>
              <a:r>
                <a:rPr sz="400" kern="0" spc="4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  <a:hlinkClick r:id="rId3" action="ppaction://hlinksldjump">
                    <a:extLst>
                      <a:ext uri="{DAF060AB-1E55-43B9-8AAB-6FB025537F2F}">
                        <wpsdc:hlinkUnderline xmlns:wpsdc="http://www.wps.cn/officeDocument/2017/drawingmlCustomData" xmlns="" val="0"/>
                      </a:ext>
                    </a:extLst>
                  </a:hlinkClick>
                </a:rPr>
                <a:t>Crypto</a:t>
              </a:r>
              <a:r>
                <a:rPr sz="400" kern="0" spc="0" dirty="0">
                  <a:solidFill>
                    <a:srgbClr val="69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                                                                   </a:t>
              </a:r>
              <a:r>
                <a:rPr sz="400" kern="0" spc="4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December</a:t>
              </a:r>
              <a:r>
                <a:rPr sz="400" kern="0" spc="14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400" kern="0" spc="4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9,</a:t>
              </a:r>
              <a:r>
                <a:rPr sz="400" kern="0" spc="9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400" kern="0" spc="4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2025</a:t>
              </a:r>
              <a:r>
                <a:rPr sz="400" kern="0" spc="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                          </a:t>
              </a:r>
              <a:r>
                <a:rPr sz="400" kern="0" spc="40" dirty="0">
                  <a:solidFill>
                    <a:srgbClr val="5A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15 / 15</a:t>
              </a:r>
              <a:endParaRPr sz="400" dirty="0">
                <a:latin typeface="Arial"/>
                <a:ea typeface="Arial"/>
                <a:cs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1463</Words>
  <Application>Microsoft Macintosh PowerPoint</Application>
  <PresentationFormat>Custom</PresentationFormat>
  <Paragraphs>266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Microsoft YaHei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Forecasting Crypto Volatility via Semantic Sentiment - A Transformer-Based Approach (FinBERT &amp; PCA)</dc:title>
  <dc:creator>Gary Sun  AAE 722 Final Project</dc:creator>
  <cp:lastModifiedBy>Gary SUN</cp:lastModifiedBy>
  <cp:revision>1</cp:revision>
  <dcterms:created xsi:type="dcterms:W3CDTF">2025-12-09T17:10:53Z</dcterms:created>
  <dcterms:modified xsi:type="dcterms:W3CDTF">2025-12-09T18:21:01Z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wqlLaW5nc29mdCBQREYgdG8gV1BTIDExNQ</vt:lpwstr>
  </property>
  <property fmtid="{D5CDD505-2E9C-101B-9397-08002B2CF9AE}" pid="3" name="Created">
    <vt:filetime>2025-12-09T11:33:21Z</vt:filetime>
  </property>
</Properties>
</file>